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80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81" r:id="rId24"/>
    <p:sldId id="27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C540"/>
    <a:srgbClr val="0047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574"/>
  </p:normalViewPr>
  <p:slideViewPr>
    <p:cSldViewPr snapToGrid="0">
      <p:cViewPr varScale="1">
        <p:scale>
          <a:sx n="105" d="100"/>
          <a:sy n="105" d="100"/>
        </p:scale>
        <p:origin x="7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solidFill>
                  <a:srgbClr val="000000"/>
                </a:solidFill>
                <a:latin typeface="等线"/>
              </a:rPr>
              <a:t>单击以移动幻灯片</a:t>
            </a:r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zh-CN" sz="2000" b="0" strike="noStrike" spc="-1">
                <a:latin typeface="Arial"/>
              </a:rPr>
              <a:t>点击编辑备注格式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&lt;页眉&gt;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&lt;日期/时间&gt;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&lt;页脚&gt;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620FA3E4-A00F-492D-9909-74CF122B117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endParaRPr lang="en-US" sz="2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7759F38-BC56-46AE-A728-8C9FE6F6A70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E93C165-58C5-40E0-AB9A-D1E83867C8BB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FCCC1F6-63FF-4CC8-9699-67F26E6F2A8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A6C0769-4227-43B3-A76D-A1F27C51C29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6CCBF37-C308-4592-BE6F-E3EE0293C7D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9D7F9D4-9F50-45E9-B696-75EE3800D63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D42ED77-5F47-48BB-B9C4-3D4D11D66C5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51ED142-7B27-4BF7-BBEB-84928423826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9AD7BD2-BEF3-400A-936A-4A4140EAABA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1D92507-8312-401A-9A17-DB938E1E5DB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0E27083-D6B7-4903-AB52-082D547ED53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175CFAC-90C6-4BCF-AE5F-8F65FE1C8D81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C35DAD0-8264-40F4-9D4A-828AE84E067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C962EB9-A5BB-4EEE-ADFF-2AC98D45FD8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D8DA6F4-45E4-47C4-804F-3FCD8C9ED6D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3D689A8-C3A4-4E87-9A03-D7296D6A0C4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1860F38-2450-4552-9016-8118106AFFB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7D181C0-CCF2-49D8-8A94-8BA7BCCC681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7B4430D-D193-4529-87E5-C4930B21BA1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5DD1E9E-A8B3-4019-8D27-C10DCC438EE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0F39855-AF1B-4426-9FA7-69332CBC168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4B10C3A-CE94-49CA-B9D8-FA04D9A2F39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ABB2779-14E5-46F3-B4AF-0A18AB551999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501D97-60E8-4B62-91D6-6884210F34CB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zh-CN" sz="6000" b="0" strike="noStrike" spc="-1">
                <a:solidFill>
                  <a:srgbClr val="000000"/>
                </a:solidFill>
                <a:latin typeface="等线 Light"/>
              </a:rPr>
              <a:t>单击此处编辑母版标题样式</a:t>
            </a:r>
            <a:endParaRPr lang="en-US" sz="60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&lt;日期/时间&gt;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&lt;页脚&gt;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点击以编辑提纲文本格式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strike="noStrike" spc="-1">
                <a:solidFill>
                  <a:srgbClr val="000000"/>
                </a:solidFill>
                <a:latin typeface="等线"/>
              </a:rPr>
              <a:t>第二提纲级别</a:t>
            </a:r>
            <a:endParaRPr lang="en-US" sz="2000" b="0" strike="noStrike" spc="-1">
              <a:solidFill>
                <a:srgbClr val="000000"/>
              </a:solidFill>
              <a:latin typeface="等线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strike="noStrike" spc="-1">
                <a:solidFill>
                  <a:srgbClr val="000000"/>
                </a:solidFill>
                <a:latin typeface="等线"/>
              </a:rPr>
              <a:t>第三提纲级别</a:t>
            </a:r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solidFill>
                  <a:srgbClr val="000000"/>
                </a:solidFill>
                <a:latin typeface="等线"/>
              </a:rPr>
              <a:t>第四提纲级别</a:t>
            </a:r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等线"/>
              </a:rPr>
              <a:t>第五提纲级别</a:t>
            </a:r>
            <a:endParaRPr lang="en-US" sz="2000" b="0" strike="noStrike" spc="-1">
              <a:solidFill>
                <a:srgbClr val="000000"/>
              </a:solidFill>
              <a:latin typeface="等线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等线"/>
              </a:rPr>
              <a:t>第六提纲级别</a:t>
            </a:r>
            <a:endParaRPr lang="en-US" sz="2000" b="0" strike="noStrike" spc="-1">
              <a:solidFill>
                <a:srgbClr val="000000"/>
              </a:solidFill>
              <a:latin typeface="等线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等线"/>
              </a:rPr>
              <a:t>第七提纲级别</a:t>
            </a:r>
            <a:endParaRPr lang="en-US" sz="2000" b="0" strike="noStrike" spc="-1">
              <a:solidFill>
                <a:srgbClr val="000000"/>
              </a:solidFill>
              <a:latin typeface="等线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&lt;日期/时间&gt;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&lt;页脚&gt;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/>
              </a:defRPr>
            </a:lvl1pPr>
          </a:lstStyle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solidFill>
                  <a:srgbClr val="000000"/>
                </a:solidFill>
                <a:latin typeface="等线"/>
              </a:rPr>
              <a:t>单击以编辑标题文本格式</a:t>
            </a:r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800" b="0" strike="noStrike" spc="-1">
                <a:solidFill>
                  <a:srgbClr val="000000"/>
                </a:solidFill>
                <a:latin typeface="等线"/>
              </a:rPr>
              <a:t>点击以编辑提纲文本格式</a:t>
            </a:r>
            <a:endParaRPr lang="en-US" sz="2800" b="0" strike="noStrike" spc="-1">
              <a:solidFill>
                <a:srgbClr val="000000"/>
              </a:solidFill>
              <a:latin typeface="等线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strike="noStrike" spc="-1">
                <a:solidFill>
                  <a:srgbClr val="000000"/>
                </a:solidFill>
                <a:latin typeface="等线"/>
              </a:rPr>
              <a:t>第二提纲级别</a:t>
            </a:r>
            <a:endParaRPr lang="en-US" sz="2000" b="0" strike="noStrike" spc="-1">
              <a:solidFill>
                <a:srgbClr val="000000"/>
              </a:solidFill>
              <a:latin typeface="等线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strike="noStrike" spc="-1">
                <a:solidFill>
                  <a:srgbClr val="000000"/>
                </a:solidFill>
                <a:latin typeface="等线"/>
              </a:rPr>
              <a:t>第三提纲级别</a:t>
            </a:r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solidFill>
                  <a:srgbClr val="000000"/>
                </a:solidFill>
                <a:latin typeface="等线"/>
              </a:rPr>
              <a:t>第四提纲级别</a:t>
            </a:r>
            <a:endParaRPr lang="en-US" sz="1800" b="0" strike="noStrike" spc="-1">
              <a:solidFill>
                <a:srgbClr val="000000"/>
              </a:solidFill>
              <a:latin typeface="等线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等线"/>
              </a:rPr>
              <a:t>第五提纲级别</a:t>
            </a:r>
            <a:endParaRPr lang="en-US" sz="2000" b="0" strike="noStrike" spc="-1">
              <a:solidFill>
                <a:srgbClr val="000000"/>
              </a:solidFill>
              <a:latin typeface="等线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等线"/>
              </a:rPr>
              <a:t>第六提纲级别</a:t>
            </a:r>
            <a:endParaRPr lang="en-US" sz="2000" b="0" strike="noStrike" spc="-1">
              <a:solidFill>
                <a:srgbClr val="000000"/>
              </a:solidFill>
              <a:latin typeface="等线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等线"/>
              </a:rPr>
              <a:t>第七提纲级别</a:t>
            </a:r>
            <a:endParaRPr lang="en-US" sz="2000" b="0" strike="noStrike" spc="-1">
              <a:solidFill>
                <a:srgbClr val="000000"/>
              </a:solidFill>
              <a:latin typeface="等线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64"/>
          <p:cNvSpPr/>
          <p:nvPr/>
        </p:nvSpPr>
        <p:spPr>
          <a:xfrm>
            <a:off x="0" y="270720"/>
            <a:ext cx="12191760" cy="6901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1800" b="0" strike="noStrike" spc="-1">
                <a:solidFill>
                  <a:srgbClr val="FFFFFF"/>
                </a:solidFill>
                <a:latin typeface="Times New Roman"/>
                <a:ea typeface="微软雅黑"/>
              </a:rPr>
              <a:t>https://github.com/Dawn0101/paper_sys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9" name="矩形 56"/>
          <p:cNvSpPr/>
          <p:nvPr/>
        </p:nvSpPr>
        <p:spPr>
          <a:xfrm>
            <a:off x="-3600" y="1636560"/>
            <a:ext cx="12195360" cy="3584160"/>
          </a:xfrm>
          <a:prstGeom prst="rect">
            <a:avLst/>
          </a:prstGeom>
          <a:solidFill>
            <a:srgbClr val="0F4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" name="矩形 81"/>
          <p:cNvSpPr/>
          <p:nvPr/>
        </p:nvSpPr>
        <p:spPr>
          <a:xfrm>
            <a:off x="1279440" y="1033560"/>
            <a:ext cx="9629280" cy="4746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360">
              <a:srgbClr val="A5A5A5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sz="1800" b="0" strike="noStrike" spc="-1">
                <a:solidFill>
                  <a:srgbClr val="FFFFFF"/>
                </a:solidFill>
                <a:latin typeface="Times New Roman"/>
                <a:ea typeface="微软雅黑"/>
              </a:rPr>
              <a:t>汇报人：陈亚雄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91" name="文本框 76"/>
          <p:cNvSpPr/>
          <p:nvPr/>
        </p:nvSpPr>
        <p:spPr>
          <a:xfrm>
            <a:off x="1188000" y="2529360"/>
            <a:ext cx="10117080" cy="820440"/>
          </a:xfrm>
          <a:prstGeom prst="rect">
            <a:avLst/>
          </a:prstGeom>
          <a:noFill/>
          <a:ln w="0">
            <a:noFill/>
          </a:ln>
          <a:effectLst>
            <a:outerShdw blurRad="63360" sx="102000" sy="102000" algn="ctr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1"/>
              </a:spcAft>
              <a:buNone/>
            </a:pPr>
            <a:r>
              <a:rPr lang="zh-CN" sz="4800" b="1" strike="noStrike" spc="-1">
                <a:solidFill>
                  <a:srgbClr val="000000"/>
                </a:solidFill>
                <a:latin typeface="微软雅黑"/>
                <a:ea typeface="微软雅黑"/>
              </a:rPr>
              <a:t>基于</a:t>
            </a:r>
            <a:r>
              <a:rPr lang="en-GB" sz="4800" b="1" strike="noStrike" spc="-1">
                <a:solidFill>
                  <a:srgbClr val="000000"/>
                </a:solidFill>
                <a:latin typeface="微软雅黑"/>
                <a:ea typeface="微软雅黑"/>
              </a:rPr>
              <a:t>Flask </a:t>
            </a:r>
            <a:r>
              <a:rPr lang="zh-CN" sz="4800" b="1" strike="noStrike" spc="-1">
                <a:solidFill>
                  <a:srgbClr val="000000"/>
                </a:solidFill>
                <a:latin typeface="微软雅黑"/>
                <a:ea typeface="微软雅黑"/>
              </a:rPr>
              <a:t>的论文管理系统实现</a:t>
            </a:r>
            <a:endParaRPr lang="en-US" sz="4800" b="0" strike="noStrike" spc="-1">
              <a:latin typeface="Arial"/>
            </a:endParaRPr>
          </a:p>
        </p:txBody>
      </p:sp>
      <p:grpSp>
        <p:nvGrpSpPr>
          <p:cNvPr id="92" name="组合 1"/>
          <p:cNvGrpSpPr/>
          <p:nvPr/>
        </p:nvGrpSpPr>
        <p:grpSpPr>
          <a:xfrm>
            <a:off x="3826080" y="1277280"/>
            <a:ext cx="4536360" cy="899640"/>
            <a:chOff x="3826080" y="1277280"/>
            <a:chExt cx="4536360" cy="899640"/>
          </a:xfrm>
        </p:grpSpPr>
        <p:pic>
          <p:nvPicPr>
            <p:cNvPr id="93" name="图片 15"/>
            <p:cNvPicPr/>
            <p:nvPr/>
          </p:nvPicPr>
          <p:blipFill>
            <a:blip r:embed="rId3"/>
            <a:stretch/>
          </p:blipFill>
          <p:spPr>
            <a:xfrm>
              <a:off x="3826080" y="1314720"/>
              <a:ext cx="923400" cy="8622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4" name="图片 5"/>
            <p:cNvPicPr/>
            <p:nvPr/>
          </p:nvPicPr>
          <p:blipFill>
            <a:blip r:embed="rId4"/>
            <a:srcRect l="8372" t="62285" r="8466" b="9573"/>
            <a:stretch/>
          </p:blipFill>
          <p:spPr>
            <a:xfrm>
              <a:off x="4938480" y="1277280"/>
              <a:ext cx="3423960" cy="8996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5" name="矩形: 圆角 6"/>
          <p:cNvSpPr/>
          <p:nvPr/>
        </p:nvSpPr>
        <p:spPr>
          <a:xfrm>
            <a:off x="4365720" y="4007880"/>
            <a:ext cx="3391200" cy="601920"/>
          </a:xfrm>
          <a:prstGeom prst="roundRect">
            <a:avLst>
              <a:gd name="adj" fmla="val 16667"/>
            </a:avLst>
          </a:prstGeom>
          <a:solidFill>
            <a:srgbClr val="0A7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sz="2000" b="1" strike="noStrike" spc="-1">
                <a:solidFill>
                  <a:srgbClr val="FFFFFF"/>
                </a:solidFill>
                <a:latin typeface="Times New Roman"/>
                <a:ea typeface="微软雅黑"/>
              </a:rPr>
              <a:t>汇报小组：第十小组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96" name="文本框 23"/>
          <p:cNvSpPr/>
          <p:nvPr/>
        </p:nvSpPr>
        <p:spPr>
          <a:xfrm>
            <a:off x="5076000" y="5090760"/>
            <a:ext cx="21510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sz="1600" b="1" strike="noStrike" spc="-1">
                <a:solidFill>
                  <a:srgbClr val="FFFFFF"/>
                </a:solidFill>
                <a:latin typeface="Times New Roman"/>
                <a:ea typeface="微软雅黑"/>
              </a:rPr>
              <a:t>时间：</a:t>
            </a:r>
            <a:r>
              <a:rPr lang="en-US" sz="1600" b="1" strike="noStrike" spc="-1">
                <a:solidFill>
                  <a:srgbClr val="FFFFFF"/>
                </a:solidFill>
                <a:latin typeface="Times New Roman"/>
                <a:ea typeface="微软雅黑"/>
              </a:rPr>
              <a:t>2025</a:t>
            </a:r>
            <a:r>
              <a:rPr lang="zh-CN" sz="1600" b="1" strike="noStrike" spc="-1">
                <a:solidFill>
                  <a:srgbClr val="FFFFFF"/>
                </a:solidFill>
                <a:latin typeface="Times New Roman"/>
                <a:ea typeface="微软雅黑"/>
              </a:rPr>
              <a:t>年</a:t>
            </a:r>
            <a:r>
              <a:rPr lang="en-US" sz="1600" b="1" strike="noStrike" spc="-1">
                <a:solidFill>
                  <a:srgbClr val="FFFFFF"/>
                </a:solidFill>
                <a:latin typeface="Times New Roman"/>
                <a:ea typeface="微软雅黑"/>
              </a:rPr>
              <a:t>5</a:t>
            </a:r>
            <a:r>
              <a:rPr lang="zh-CN" sz="1600" b="1" strike="noStrike" spc="-1">
                <a:solidFill>
                  <a:srgbClr val="FFFFFF"/>
                </a:solidFill>
                <a:latin typeface="Times New Roman"/>
                <a:ea typeface="微软雅黑"/>
              </a:rPr>
              <a:t>月</a:t>
            </a:r>
            <a:r>
              <a:rPr lang="en-US" sz="1600" b="1" strike="noStrike" spc="-1">
                <a:solidFill>
                  <a:srgbClr val="FFFFFF"/>
                </a:solidFill>
                <a:latin typeface="Times New Roman"/>
                <a:ea typeface="微软雅黑"/>
              </a:rPr>
              <a:t>22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97" name="矩形: 圆角 2"/>
          <p:cNvSpPr/>
          <p:nvPr/>
        </p:nvSpPr>
        <p:spPr>
          <a:xfrm>
            <a:off x="4383720" y="4827240"/>
            <a:ext cx="3373200" cy="601920"/>
          </a:xfrm>
          <a:prstGeom prst="roundRect">
            <a:avLst>
              <a:gd name="adj" fmla="val 16667"/>
            </a:avLst>
          </a:prstGeom>
          <a:solidFill>
            <a:srgbClr val="0A73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sz="2000" b="1" strike="noStrike" spc="-1">
                <a:solidFill>
                  <a:srgbClr val="FFFFFF"/>
                </a:solidFill>
                <a:latin typeface="Times New Roman"/>
                <a:ea typeface="微软雅黑"/>
              </a:rPr>
              <a:t>汇报时间：</a:t>
            </a: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微软雅黑"/>
              </a:rPr>
              <a:t>2025.12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98" name="文本框 3"/>
          <p:cNvSpPr/>
          <p:nvPr/>
        </p:nvSpPr>
        <p:spPr>
          <a:xfrm>
            <a:off x="3718800" y="3429000"/>
            <a:ext cx="47509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https://github.com/Dawn0101/paper_sys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 14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矩形 15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" name="矩形 16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2" name="组合 4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103" name="图片 6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4" name="矩形 7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105" name="组合 11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106" name="图片 12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7" name="矩形 13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108" name="图片 17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09" name="标题 1"/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目录</a:t>
            </a:r>
            <a:endParaRPr lang="en-US" sz="2800" b="0" strike="noStrike" spc="-1">
              <a:latin typeface="Arial"/>
            </a:endParaRPr>
          </a:p>
        </p:txBody>
      </p:sp>
      <p:grpSp>
        <p:nvGrpSpPr>
          <p:cNvPr id="110" name="组合 19"/>
          <p:cNvGrpSpPr/>
          <p:nvPr/>
        </p:nvGrpSpPr>
        <p:grpSpPr>
          <a:xfrm>
            <a:off x="2594160" y="3765960"/>
            <a:ext cx="6531480" cy="780840"/>
            <a:chOff x="2594160" y="3765960"/>
            <a:chExt cx="6531480" cy="780840"/>
          </a:xfrm>
        </p:grpSpPr>
        <p:sp>
          <p:nvSpPr>
            <p:cNvPr id="111" name="深度视觉·原创设计 https://www.docer.com/works?userid=22383862"/>
            <p:cNvSpPr/>
            <p:nvPr/>
          </p:nvSpPr>
          <p:spPr>
            <a:xfrm>
              <a:off x="2594160" y="3765960"/>
              <a:ext cx="851760" cy="780840"/>
            </a:xfrm>
            <a:prstGeom prst="octagon">
              <a:avLst>
                <a:gd name="adj" fmla="val 2928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2800" b="1" strike="noStrike" spc="-1">
                  <a:solidFill>
                    <a:srgbClr val="FFFFFF"/>
                  </a:solidFill>
                  <a:latin typeface="微软雅黑"/>
                  <a:ea typeface="微软雅黑"/>
                </a:rPr>
                <a:t>03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112" name="深度视觉·原创设计 https://www.docer.com/works?userid=22383862"/>
            <p:cNvSpPr/>
            <p:nvPr/>
          </p:nvSpPr>
          <p:spPr>
            <a:xfrm>
              <a:off x="3525120" y="3903120"/>
              <a:ext cx="5600520" cy="54648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zh-CN" sz="3000" b="1" strike="noStrike" spc="-1">
                  <a:solidFill>
                    <a:srgbClr val="000000"/>
                  </a:solidFill>
                  <a:latin typeface="微软雅黑"/>
                  <a:ea typeface="微软雅黑"/>
                </a:rPr>
                <a:t>数据库核心技术实现</a:t>
              </a:r>
              <a:endParaRPr lang="en-US" sz="3000" b="0" strike="noStrike" spc="-1">
                <a:latin typeface="Arial"/>
              </a:endParaRPr>
            </a:p>
          </p:txBody>
        </p:sp>
      </p:grpSp>
      <p:grpSp>
        <p:nvGrpSpPr>
          <p:cNvPr id="113" name="组合 27"/>
          <p:cNvGrpSpPr/>
          <p:nvPr/>
        </p:nvGrpSpPr>
        <p:grpSpPr>
          <a:xfrm>
            <a:off x="2591280" y="1465920"/>
            <a:ext cx="6576480" cy="780840"/>
            <a:chOff x="2591280" y="1465920"/>
            <a:chExt cx="6576480" cy="780840"/>
          </a:xfrm>
        </p:grpSpPr>
        <p:sp>
          <p:nvSpPr>
            <p:cNvPr id="114" name="深度视觉·原创设计 https://www.docer.com/works?userid=22383862"/>
            <p:cNvSpPr/>
            <p:nvPr/>
          </p:nvSpPr>
          <p:spPr>
            <a:xfrm>
              <a:off x="2591280" y="1465920"/>
              <a:ext cx="851760" cy="780840"/>
            </a:xfrm>
            <a:prstGeom prst="octagon">
              <a:avLst>
                <a:gd name="adj" fmla="val 2928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2800" b="1" strike="noStrike" spc="-1">
                  <a:solidFill>
                    <a:srgbClr val="FFFFFF"/>
                  </a:solidFill>
                  <a:latin typeface="微软雅黑"/>
                  <a:ea typeface="微软雅黑"/>
                </a:rPr>
                <a:t>01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115" name="深度视觉·原创设计 https://www.docer.com/works?userid=22383862"/>
            <p:cNvSpPr/>
            <p:nvPr/>
          </p:nvSpPr>
          <p:spPr>
            <a:xfrm>
              <a:off x="3567240" y="1577160"/>
              <a:ext cx="5600520" cy="54648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zh-CN" sz="3000" b="1" strike="noStrike" spc="-1">
                  <a:solidFill>
                    <a:srgbClr val="000000"/>
                  </a:solidFill>
                  <a:latin typeface="微软雅黑"/>
                  <a:ea typeface="微软雅黑"/>
                </a:rPr>
                <a:t>项目背景与需求分析</a:t>
              </a:r>
              <a:endParaRPr lang="en-US" sz="3000" b="0" strike="noStrike" spc="-1">
                <a:latin typeface="Arial"/>
              </a:endParaRPr>
            </a:p>
          </p:txBody>
        </p:sp>
      </p:grpSp>
      <p:grpSp>
        <p:nvGrpSpPr>
          <p:cNvPr id="116" name="组合 30"/>
          <p:cNvGrpSpPr/>
          <p:nvPr/>
        </p:nvGrpSpPr>
        <p:grpSpPr>
          <a:xfrm>
            <a:off x="2591280" y="2584800"/>
            <a:ext cx="6576480" cy="780840"/>
            <a:chOff x="2591280" y="2584800"/>
            <a:chExt cx="6576480" cy="780840"/>
          </a:xfrm>
        </p:grpSpPr>
        <p:sp>
          <p:nvSpPr>
            <p:cNvPr id="117" name="深度视觉·原创设计 https://www.docer.com/works?userid=22383862"/>
            <p:cNvSpPr/>
            <p:nvPr/>
          </p:nvSpPr>
          <p:spPr>
            <a:xfrm>
              <a:off x="2591280" y="2584800"/>
              <a:ext cx="851760" cy="780840"/>
            </a:xfrm>
            <a:prstGeom prst="octagon">
              <a:avLst>
                <a:gd name="adj" fmla="val 29289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2800" b="1" strike="noStrike" spc="-1">
                  <a:solidFill>
                    <a:srgbClr val="FFFFFF"/>
                  </a:solidFill>
                  <a:latin typeface="微软雅黑"/>
                  <a:ea typeface="微软雅黑"/>
                </a:rPr>
                <a:t>02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118" name="深度视觉·原创设计 https://www.docer.com/works?userid=22383862"/>
            <p:cNvSpPr/>
            <p:nvPr/>
          </p:nvSpPr>
          <p:spPr>
            <a:xfrm>
              <a:off x="3567240" y="2718000"/>
              <a:ext cx="5600520" cy="54648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zh-CN" sz="3000" b="1" strike="noStrike" spc="-1">
                  <a:solidFill>
                    <a:srgbClr val="000000"/>
                  </a:solidFill>
                  <a:latin typeface="微软雅黑"/>
                  <a:ea typeface="微软雅黑"/>
                </a:rPr>
                <a:t>数据库设计与 </a:t>
              </a:r>
              <a:r>
                <a:rPr lang="en-GB" sz="3000" b="1" strike="noStrike" spc="-1">
                  <a:solidFill>
                    <a:srgbClr val="000000"/>
                  </a:solidFill>
                  <a:latin typeface="微软雅黑"/>
                  <a:ea typeface="微软雅黑"/>
                </a:rPr>
                <a:t>ER </a:t>
              </a:r>
              <a:r>
                <a:rPr lang="zh-CN" sz="3000" b="1" strike="noStrike" spc="-1">
                  <a:solidFill>
                    <a:srgbClr val="000000"/>
                  </a:solidFill>
                  <a:latin typeface="微软雅黑"/>
                  <a:ea typeface="微软雅黑"/>
                </a:rPr>
                <a:t>模型</a:t>
              </a:r>
              <a:endParaRPr lang="en-US" sz="3000" b="0" strike="noStrike" spc="-1">
                <a:latin typeface="Arial"/>
              </a:endParaRPr>
            </a:p>
          </p:txBody>
        </p:sp>
      </p:grpSp>
      <p:grpSp>
        <p:nvGrpSpPr>
          <p:cNvPr id="119" name="组合 33"/>
          <p:cNvGrpSpPr/>
          <p:nvPr/>
        </p:nvGrpSpPr>
        <p:grpSpPr>
          <a:xfrm>
            <a:off x="2591280" y="4867560"/>
            <a:ext cx="6638040" cy="780840"/>
            <a:chOff x="2591280" y="4867560"/>
            <a:chExt cx="6638040" cy="780840"/>
          </a:xfrm>
        </p:grpSpPr>
        <p:sp>
          <p:nvSpPr>
            <p:cNvPr id="120" name="深度视觉·原创设计 https://www.docer.com/works?userid=22383862"/>
            <p:cNvSpPr/>
            <p:nvPr/>
          </p:nvSpPr>
          <p:spPr>
            <a:xfrm>
              <a:off x="2591280" y="4867560"/>
              <a:ext cx="851760" cy="780840"/>
            </a:xfrm>
            <a:prstGeom prst="octagon">
              <a:avLst>
                <a:gd name="adj" fmla="val 29289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2800" b="1" strike="noStrike" spc="-1">
                  <a:solidFill>
                    <a:srgbClr val="FFFFFF"/>
                  </a:solidFill>
                  <a:latin typeface="微软雅黑"/>
                  <a:ea typeface="微软雅黑"/>
                </a:rPr>
                <a:t>04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121" name="深度视觉·原创设计 https://www.docer.com/works?userid=22383862"/>
            <p:cNvSpPr/>
            <p:nvPr/>
          </p:nvSpPr>
          <p:spPr>
            <a:xfrm>
              <a:off x="3567240" y="5001120"/>
              <a:ext cx="5662080" cy="54648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zh-CN" sz="3000" b="1" strike="noStrike" spc="-1">
                  <a:solidFill>
                    <a:srgbClr val="000000"/>
                  </a:solidFill>
                  <a:latin typeface="微软雅黑"/>
                  <a:ea typeface="微软雅黑"/>
                </a:rPr>
                <a:t>项目分工与总结</a:t>
              </a:r>
              <a:endParaRPr lang="en-US" sz="30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64"/>
          <p:cNvSpPr/>
          <p:nvPr/>
        </p:nvSpPr>
        <p:spPr>
          <a:xfrm>
            <a:off x="-1800" y="-43920"/>
            <a:ext cx="12191760" cy="6901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3" name="矩形 56"/>
          <p:cNvSpPr/>
          <p:nvPr/>
        </p:nvSpPr>
        <p:spPr>
          <a:xfrm>
            <a:off x="-3600" y="1636560"/>
            <a:ext cx="12195360" cy="3584160"/>
          </a:xfrm>
          <a:prstGeom prst="rect">
            <a:avLst/>
          </a:prstGeom>
          <a:solidFill>
            <a:srgbClr val="0F4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" name="矩形 81"/>
          <p:cNvSpPr/>
          <p:nvPr/>
        </p:nvSpPr>
        <p:spPr>
          <a:xfrm>
            <a:off x="1279440" y="1055520"/>
            <a:ext cx="9629280" cy="4746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360">
              <a:srgbClr val="A5A5A5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5" name="椭圆 11"/>
          <p:cNvSpPr/>
          <p:nvPr/>
        </p:nvSpPr>
        <p:spPr>
          <a:xfrm>
            <a:off x="5454720" y="1661040"/>
            <a:ext cx="1283040" cy="1283040"/>
          </a:xfrm>
          <a:prstGeom prst="ellipse">
            <a:avLst/>
          </a:prstGeom>
          <a:solidFill>
            <a:srgbClr val="2D5F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6" name="文本框 12"/>
          <p:cNvSpPr/>
          <p:nvPr/>
        </p:nvSpPr>
        <p:spPr>
          <a:xfrm>
            <a:off x="5501880" y="1667880"/>
            <a:ext cx="1188360" cy="115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7000" b="0" strike="noStrike" spc="-1">
                <a:solidFill>
                  <a:srgbClr val="FFFFFF"/>
                </a:solidFill>
                <a:latin typeface="Times New Roman"/>
              </a:rPr>
              <a:t>1</a:t>
            </a:r>
            <a:endParaRPr lang="en-US" sz="7000" b="0" strike="noStrike" spc="-1">
              <a:latin typeface="Arial"/>
            </a:endParaRPr>
          </a:p>
        </p:txBody>
      </p:sp>
      <p:sp>
        <p:nvSpPr>
          <p:cNvPr id="127" name="文本框 13"/>
          <p:cNvSpPr/>
          <p:nvPr/>
        </p:nvSpPr>
        <p:spPr>
          <a:xfrm>
            <a:off x="1279440" y="3406320"/>
            <a:ext cx="9629280" cy="10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sz="6000" b="1" strike="noStrike" spc="-1">
                <a:solidFill>
                  <a:srgbClr val="0053A3"/>
                </a:solidFill>
                <a:latin typeface="Times New Roman"/>
                <a:ea typeface="微软雅黑"/>
              </a:rPr>
              <a:t>项目背景与需求分析</a:t>
            </a:r>
            <a:endParaRPr lang="en-US" sz="6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 14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" name="矩形 15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0" name="矩形 16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31" name="组合 4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132" name="图片 6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3" name="矩形 7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134" name="组合 11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135" name="图片 12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6" name="矩形 13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137" name="图片 17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38" name="标题 1"/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项目背景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139" name="Rectangle 1"/>
          <p:cNvSpPr/>
          <p:nvPr/>
        </p:nvSpPr>
        <p:spPr>
          <a:xfrm>
            <a:off x="320760" y="1148760"/>
            <a:ext cx="11886120" cy="521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ctr">
            <a:spAutoFit/>
          </a:bodyPr>
          <a:lstStyle/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在高校教学与科研工作开展过程中，学术研究的推进高度依赖</a:t>
            </a:r>
            <a:r>
              <a:rPr lang="zh-CN" sz="2000" b="1" strike="noStrike" spc="-1">
                <a:solidFill>
                  <a:srgbClr val="00479A"/>
                </a:solidFill>
                <a:latin typeface="微软雅黑"/>
                <a:ea typeface="微软雅黑"/>
              </a:rPr>
              <a:t>各类论文数据库资源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。目前，高校普遍采购了知网、万方、维普等一系列</a:t>
            </a:r>
            <a:r>
              <a:rPr lang="zh-CN" sz="2000" b="1" strike="noStrike" spc="-1">
                <a:solidFill>
                  <a:srgbClr val="00479A"/>
                </a:solidFill>
                <a:latin typeface="微软雅黑"/>
                <a:ea typeface="微软雅黑"/>
              </a:rPr>
              <a:t>专业论文数据库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，为师生提供海量的学术文献支持。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800" b="0" strike="noStrike" spc="-1"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随着师生检索、查阅论文的频次日益增加，传统的论文数据库使用模式仅能满足 </a:t>
            </a:r>
            <a:r>
              <a:rPr lang="en-US" sz="2000" b="1" strike="noStrike" spc="-1">
                <a:solidFill>
                  <a:srgbClr val="00479A"/>
                </a:solidFill>
                <a:latin typeface="微软雅黑"/>
                <a:ea typeface="微软雅黑"/>
              </a:rPr>
              <a:t>“搜索 - </a:t>
            </a:r>
            <a:r>
              <a:rPr lang="zh-CN" sz="2000" b="1" strike="noStrike" spc="-1">
                <a:solidFill>
                  <a:srgbClr val="00479A"/>
                </a:solidFill>
                <a:latin typeface="微软雅黑"/>
                <a:ea typeface="微软雅黑"/>
              </a:rPr>
              <a:t>查阅” 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的基础需求，却无法对师生的</a:t>
            </a:r>
            <a:r>
              <a:rPr lang="zh-CN" sz="2000" b="1" strike="noStrike" spc="-1">
                <a:solidFill>
                  <a:srgbClr val="00479A"/>
                </a:solidFill>
                <a:latin typeface="微软雅黑"/>
                <a:ea typeface="微软雅黑"/>
              </a:rPr>
              <a:t>使用行为数据进行有效留存与深度分析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。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800" b="0" strike="noStrike" spc="-1"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当学生通过本校知识库搜索论文并点击详情界面时，其</a:t>
            </a:r>
            <a:r>
              <a:rPr lang="zh-CN" sz="2000" b="1" strike="noStrike" spc="-1">
                <a:solidFill>
                  <a:srgbClr val="00479A"/>
                </a:solidFill>
                <a:latin typeface="微软雅黑"/>
                <a:ea typeface="微软雅黑"/>
              </a:rPr>
              <a:t>检索偏好、阅读倾向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等有价值的信息往往被忽略。与此同时，高校在</a:t>
            </a:r>
            <a:r>
              <a:rPr lang="zh-CN" sz="2000" b="1" strike="noStrike" spc="-1">
                <a:solidFill>
                  <a:srgbClr val="00479A"/>
                </a:solidFill>
                <a:latin typeface="微软雅黑"/>
                <a:ea typeface="微软雅黑"/>
              </a:rPr>
              <a:t>学术资源优化配置、学科建设方向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调整等工作中，也缺乏直观的数据支撑。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800" b="0" strike="noStrike" spc="-1"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在此背景下，构建一套</a:t>
            </a:r>
            <a:r>
              <a:rPr lang="zh-CN" sz="2000" b="1" strike="noStrike" spc="-1">
                <a:solidFill>
                  <a:srgbClr val="00479A"/>
                </a:solidFill>
                <a:latin typeface="微软雅黑"/>
                <a:ea typeface="微软雅黑"/>
              </a:rPr>
              <a:t>以数据库为核心的数据密集型论文管理系统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显得尤为必要。该系统不仅能实现对师生论文查阅行为数据的</a:t>
            </a:r>
            <a:r>
              <a:rPr lang="zh-CN" sz="2000" b="1" strike="noStrike" spc="-1">
                <a:solidFill>
                  <a:srgbClr val="00479A"/>
                </a:solidFill>
                <a:latin typeface="微软雅黑"/>
                <a:ea typeface="微软雅黑"/>
              </a:rPr>
              <a:t>自动记录与存储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，还可通过数据挖掘与分析，生成诸如学生最感兴趣的论文主题、各学院学生关注的学术领域差异对比等一系列有价值的</a:t>
            </a:r>
            <a:r>
              <a:rPr lang="zh-CN" sz="2000" b="1" strike="noStrike" spc="-1">
                <a:solidFill>
                  <a:srgbClr val="00479A"/>
                </a:solidFill>
                <a:latin typeface="微软雅黑"/>
                <a:ea typeface="微软雅黑"/>
              </a:rPr>
              <a:t>统计信息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，为高校优化资源采购策略、完善学科建设规划、提升学术服务质量提供科学依据</a:t>
            </a:r>
            <a:r>
              <a:rPr lang="zh-CN" sz="18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。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矩形 14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" name="矩形 15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2" name="矩形 16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43" name="组合 4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144" name="图片 6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5" name="矩形 7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146" name="组合 11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147" name="图片 12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8" name="矩形 13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149" name="图片 17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50" name="标题 1"/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问题定义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151" name="Rectangle 1"/>
          <p:cNvSpPr/>
          <p:nvPr/>
        </p:nvSpPr>
        <p:spPr>
          <a:xfrm>
            <a:off x="1053000" y="1911240"/>
            <a:ext cx="10873800" cy="38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ctr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sz="800" b="0" strike="noStrike" spc="-1"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0053A3"/>
              </a:buClr>
              <a:buFont typeface="等线 Light"/>
              <a:buAutoNum type="arabicPeriod"/>
            </a:pPr>
            <a:r>
              <a:rPr lang="zh-CN" sz="2000" b="1" strike="noStrike" spc="-1">
                <a:solidFill>
                  <a:srgbClr val="0053A3"/>
                </a:solidFill>
                <a:latin typeface="微软雅黑"/>
                <a:ea typeface="微软雅黑"/>
              </a:rPr>
              <a:t>权限隔离难题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：学生、学院管理员、学校管理员共享本校采购的论文数据库资源，但需严格区分操作权限 </a:t>
            </a:r>
            <a:r>
              <a:rPr lang="en-US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—— </a:t>
            </a:r>
            <a:r>
              <a:rPr lang="zh-CN" sz="2000" b="1" u="sng" strike="noStrike" spc="-1">
                <a:solidFill>
                  <a:srgbClr val="0053A3"/>
                </a:solidFill>
                <a:uFillTx/>
                <a:latin typeface="微软雅黑"/>
                <a:ea typeface="微软雅黑"/>
              </a:rPr>
              <a:t>学生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仅能查询、浏览论文并查看个人访问记录，</a:t>
            </a:r>
            <a:r>
              <a:rPr lang="zh-CN" sz="2000" b="1" u="sng" strike="noStrike" spc="-1">
                <a:solidFill>
                  <a:srgbClr val="0053A3"/>
                </a:solidFill>
                <a:uFillTx/>
                <a:latin typeface="微软雅黑"/>
                <a:ea typeface="微软雅黑"/>
              </a:rPr>
              <a:t>学院管理员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可额外获取所属学院学生的论文统计趋势，</a:t>
            </a:r>
            <a:r>
              <a:rPr lang="zh-CN" sz="2000" b="1" u="sng" strike="noStrike" spc="-1">
                <a:solidFill>
                  <a:srgbClr val="0053A3"/>
                </a:solidFill>
                <a:uFillTx/>
                <a:latin typeface="微软雅黑"/>
                <a:ea typeface="微软雅黑"/>
              </a:rPr>
              <a:t>学校管理员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可获取校级论文统计趋势，并负责数据同步与权限分配。因此，如何在数据库层面实现 “数据共享、权限隔离” 是首要问题。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2000" b="0" strike="noStrike" spc="-1"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0053A3"/>
              </a:buClr>
              <a:buFont typeface="等线 Light"/>
              <a:buAutoNum type="arabicPeriod"/>
            </a:pPr>
            <a:r>
              <a:rPr lang="zh-CN" sz="2000" b="1" strike="noStrike" spc="-1">
                <a:solidFill>
                  <a:srgbClr val="0053A3"/>
                </a:solidFill>
                <a:latin typeface="微软雅黑"/>
                <a:ea typeface="微软雅黑"/>
              </a:rPr>
              <a:t>高频操作支撑需求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：随着师生学术检索行为日益频繁，系统需支撑高并发的论文查询请求，同时要快速响应多维度统计分析需求（如学院访问排行、热门论文检索趋势），传统的单表查询模式难以满足效率要求，需从数据库结构设计层面优化查询性能。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52" name="文本框 2"/>
          <p:cNvSpPr/>
          <p:nvPr/>
        </p:nvSpPr>
        <p:spPr>
          <a:xfrm>
            <a:off x="534240" y="1209960"/>
            <a:ext cx="1153476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sz="24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本系统的核心业务痛点，本质是</a:t>
            </a:r>
            <a:r>
              <a:rPr lang="zh-CN" sz="2400" b="1" u="sng" strike="noStrike" spc="-1">
                <a:solidFill>
                  <a:srgbClr val="0053A3"/>
                </a:solidFill>
                <a:uFillTx/>
                <a:latin typeface="微软雅黑"/>
                <a:ea typeface="微软雅黑"/>
              </a:rPr>
              <a:t>多角色场景下的数据访问管控</a:t>
            </a:r>
            <a:r>
              <a:rPr lang="zh-CN" sz="24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与</a:t>
            </a:r>
            <a:r>
              <a:rPr lang="zh-CN" sz="2400" b="1" u="sng" strike="noStrike" spc="-1">
                <a:solidFill>
                  <a:srgbClr val="0053A3"/>
                </a:solidFill>
                <a:uFillTx/>
                <a:latin typeface="微软雅黑"/>
                <a:ea typeface="微软雅黑"/>
              </a:rPr>
              <a:t>高频数据分析问题</a:t>
            </a:r>
            <a:r>
              <a:rPr lang="zh-CN" sz="24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。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矩形 14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4" name="矩形 15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5" name="矩形 16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56" name="组合 4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157" name="图片 6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8" name="矩形 7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159" name="组合 11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160" name="图片 12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61" name="矩形 13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162" name="图片 17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63" name="标题 1"/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问题定义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164" name="Rectangle 1"/>
          <p:cNvSpPr/>
          <p:nvPr/>
        </p:nvSpPr>
        <p:spPr>
          <a:xfrm>
            <a:off x="1519560" y="1990800"/>
            <a:ext cx="10549440" cy="42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ctr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53A3"/>
              </a:buClr>
              <a:buFont typeface="等线 Light"/>
              <a:buAutoNum type="arabicPeriod"/>
            </a:pPr>
            <a:r>
              <a:rPr lang="zh-CN" sz="2000" b="1" strike="noStrike" spc="-1">
                <a:solidFill>
                  <a:srgbClr val="0053A3"/>
                </a:solidFill>
                <a:latin typeface="微软雅黑"/>
                <a:ea typeface="微软雅黑"/>
              </a:rPr>
              <a:t>数据统一管控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：爬虫得到标准化的论文元数据</a:t>
            </a:r>
            <a:r>
              <a:rPr lang="en-US" sz="2000" b="1" u="sng" strike="noStrike" spc="-1">
                <a:solidFill>
                  <a:srgbClr val="0053A3"/>
                </a:solidFill>
                <a:uFillTx/>
                <a:latin typeface="微软雅黑"/>
                <a:ea typeface="微软雅黑"/>
              </a:rPr>
              <a:t>(papers.json)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与用户点击论文行为数据存储模型</a:t>
            </a:r>
            <a:r>
              <a:rPr lang="en-US" sz="2000" b="1" u="sng" strike="noStrike" spc="-1">
                <a:solidFill>
                  <a:srgbClr val="0053A3"/>
                </a:solidFill>
                <a:uFillTx/>
                <a:latin typeface="微软雅黑"/>
                <a:ea typeface="微软雅黑"/>
              </a:rPr>
              <a:t>(paper_click</a:t>
            </a:r>
            <a:r>
              <a:rPr lang="zh-CN" sz="2000" b="1" u="sng" strike="noStrike" spc="-1">
                <a:solidFill>
                  <a:srgbClr val="0053A3"/>
                </a:solidFill>
                <a:uFillTx/>
                <a:latin typeface="微软雅黑"/>
                <a:ea typeface="微软雅黑"/>
              </a:rPr>
              <a:t>表</a:t>
            </a:r>
            <a:r>
              <a:rPr lang="en-US" sz="2000" b="1" u="sng" strike="noStrike" spc="-1">
                <a:solidFill>
                  <a:srgbClr val="0053A3"/>
                </a:solidFill>
                <a:uFillTx/>
                <a:latin typeface="微软雅黑"/>
                <a:ea typeface="微软雅黑"/>
              </a:rPr>
              <a:t>)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，实现论文信息、访问记录、角色信息的统一管理，确保数据的一致性、完整性与准确性。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2000" b="0" strike="noStrike" spc="-1"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0053A3"/>
              </a:buClr>
              <a:buFont typeface="等线 Light"/>
              <a:buAutoNum type="arabicPeriod"/>
            </a:pPr>
            <a:r>
              <a:rPr lang="zh-CN" sz="2000" b="1" strike="noStrike" spc="-1">
                <a:solidFill>
                  <a:srgbClr val="0053A3"/>
                </a:solidFill>
                <a:latin typeface="微软雅黑"/>
                <a:ea typeface="微软雅黑"/>
              </a:rPr>
              <a:t>精细化权限控制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：基于角色设计数据库级别的</a:t>
            </a:r>
            <a:r>
              <a:rPr lang="zh-CN" sz="2000" b="1" u="sng" strike="noStrike" spc="-1">
                <a:solidFill>
                  <a:srgbClr val="00479A"/>
                </a:solidFill>
                <a:uFillTx/>
                <a:latin typeface="微软雅黑"/>
                <a:ea typeface="微软雅黑"/>
              </a:rPr>
              <a:t>访问权限规则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，通过</a:t>
            </a:r>
            <a:r>
              <a:rPr lang="zh-CN" sz="2000" b="1" u="sng" strike="noStrike" spc="-1">
                <a:solidFill>
                  <a:srgbClr val="00479A"/>
                </a:solidFill>
                <a:uFillTx/>
                <a:latin typeface="微软雅黑"/>
                <a:ea typeface="微软雅黑"/>
              </a:rPr>
              <a:t>视图、存储过程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等技术，让不同角色仅能访问与其权限匹配的数据，兼顾安全性与操作便捷性。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2000" b="0" strike="noStrike" spc="-1">
              <a:latin typeface="Arial"/>
            </a:endParaRPr>
          </a:p>
          <a:p>
            <a:pPr marL="457200" indent="-457200">
              <a:lnSpc>
                <a:spcPct val="150000"/>
              </a:lnSpc>
              <a:buClr>
                <a:srgbClr val="0053A3"/>
              </a:buClr>
              <a:buFont typeface="等线 Light"/>
              <a:buAutoNum type="arabicPeriod"/>
            </a:pPr>
            <a:r>
              <a:rPr lang="zh-CN" sz="2000" b="1" strike="noStrike" spc="-1">
                <a:solidFill>
                  <a:srgbClr val="0053A3"/>
                </a:solidFill>
                <a:latin typeface="微软雅黑"/>
                <a:ea typeface="微软雅黑"/>
              </a:rPr>
              <a:t>高效分析支撑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：设计支持多维度统计的表结构与索引策略，为 “学生兴趣论文排行”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    “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跨学院领域关注对比” 等分析场景提供</a:t>
            </a:r>
            <a:r>
              <a:rPr lang="zh-CN" sz="2000" b="1" u="sng" strike="noStrike" spc="-1">
                <a:solidFill>
                  <a:srgbClr val="00479A"/>
                </a:solidFill>
                <a:uFillTx/>
                <a:latin typeface="微软雅黑"/>
                <a:ea typeface="微软雅黑"/>
              </a:rPr>
              <a:t>结构化数据</a:t>
            </a:r>
            <a:r>
              <a:rPr lang="zh-CN" sz="20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支撑，降低数据挖掘的复杂度。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65" name="文本框 2"/>
          <p:cNvSpPr/>
          <p:nvPr/>
        </p:nvSpPr>
        <p:spPr>
          <a:xfrm>
            <a:off x="534240" y="1209960"/>
            <a:ext cx="1153476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sz="24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针对上述业务痛点，我们将目标聚焦于</a:t>
            </a:r>
            <a:r>
              <a:rPr lang="zh-CN" sz="2400" b="1" strike="noStrike" spc="-1">
                <a:solidFill>
                  <a:srgbClr val="0053A3"/>
                </a:solidFill>
                <a:latin typeface="微软雅黑"/>
                <a:ea typeface="微软雅黑"/>
              </a:rPr>
              <a:t>数据库层面</a:t>
            </a:r>
            <a:r>
              <a:rPr lang="zh-CN" sz="2400" b="0" strike="noStrike" spc="-1">
                <a:solidFill>
                  <a:srgbClr val="000000"/>
                </a:solidFill>
                <a:latin typeface="微软雅黑"/>
                <a:ea typeface="微软雅黑"/>
              </a:rPr>
              <a:t>的三大核心能力构建：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矩形 14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7" name="矩形 15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68" name="组合 4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169" name="图片 6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0" name="矩形 7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171" name="组合 11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172" name="图片 12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3" name="矩形 13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174" name="图片 17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75" name="标题 1"/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需求分析：角色功能划分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176" name="矩形 1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aphicFrame>
        <p:nvGraphicFramePr>
          <p:cNvPr id="178" name="表格 8"/>
          <p:cNvGraphicFramePr/>
          <p:nvPr/>
        </p:nvGraphicFramePr>
        <p:xfrm>
          <a:off x="640080" y="1336320"/>
          <a:ext cx="10609560" cy="4748400"/>
        </p:xfrm>
        <a:graphic>
          <a:graphicData uri="http://schemas.openxmlformats.org/drawingml/2006/table">
            <a:tbl>
              <a:tblPr/>
              <a:tblGrid>
                <a:gridCol w="203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sz="1800" b="1" strike="noStrike" spc="-1">
                          <a:solidFill>
                            <a:srgbClr val="00479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23480" marR="1234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sz="1800" b="1" strike="noStrike" spc="-1">
                          <a:solidFill>
                            <a:srgbClr val="00479A"/>
                          </a:solidFill>
                          <a:latin typeface="微软雅黑"/>
                          <a:ea typeface="微软雅黑"/>
                        </a:rPr>
                        <a:t>核心功能需求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23480" marR="1234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sz="1800" b="1" strike="noStrike" spc="-1">
                          <a:solidFill>
                            <a:srgbClr val="00479A"/>
                          </a:solidFill>
                          <a:latin typeface="微软雅黑"/>
                          <a:ea typeface="微软雅黑"/>
                        </a:rPr>
                        <a:t>对应数据库访问需求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23480" marR="1234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5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sz="1800" b="1" strike="noStrike" spc="-1">
                          <a:solidFill>
                            <a:srgbClr val="00479A"/>
                          </a:solidFill>
                          <a:latin typeface="微软雅黑"/>
                          <a:ea typeface="微软雅黑"/>
                        </a:rPr>
                        <a:t>学生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23480" marR="1234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 </a:t>
                      </a: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论文检索、详情浏览</a:t>
                      </a:r>
                      <a:br>
                        <a:rPr sz="1800"/>
                      </a:b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 </a:t>
                      </a: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个人浏览记录查询、论文收藏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23480" marR="1234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仅能访问论文元数据表（只读）、个人访问记录表（读写），无权限查看其他用户数据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23480" marR="1234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sz="1800" b="1" strike="noStrike" spc="-1">
                          <a:solidFill>
                            <a:srgbClr val="00479A"/>
                          </a:solidFill>
                          <a:latin typeface="微软雅黑"/>
                          <a:ea typeface="微软雅黑"/>
                        </a:rPr>
                        <a:t>学院管理员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23480" marR="1234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 </a:t>
                      </a: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本院学生论文访问数据统计</a:t>
                      </a:r>
                      <a:br>
                        <a:rPr sz="1800"/>
                      </a:b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 </a:t>
                      </a: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本院热门论文点击排行生成</a:t>
                      </a:r>
                      <a:br>
                        <a:rPr sz="1800"/>
                      </a:b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 </a:t>
                      </a: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本院用户信息管理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23480" marR="1234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可访问本院用户表、本院用户访问记录表、论文元数据表，支持按学院维度的聚合查询（如 </a:t>
                      </a:r>
                      <a:r>
                        <a:rPr lang="en-GB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COUNT</a:t>
                      </a: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lang="en-GB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SUM</a:t>
                      </a: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lang="en-GB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GROUP BY college_id</a:t>
                      </a: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23480" marR="1234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2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sz="1800" b="1" strike="noStrike" spc="-1">
                          <a:solidFill>
                            <a:srgbClr val="00479A"/>
                          </a:solidFill>
                          <a:latin typeface="微软雅黑"/>
                          <a:ea typeface="微软雅黑"/>
                        </a:rPr>
                        <a:t>校级管理员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23480" marR="1234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 </a:t>
                      </a: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全校论文数据库资源同步维护</a:t>
                      </a:r>
                      <a:br>
                        <a:rPr sz="1800"/>
                      </a:b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 </a:t>
                      </a: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全角色权限分配与调整</a:t>
                      </a:r>
                      <a:br>
                        <a:rPr sz="1800"/>
                      </a:b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 </a:t>
                      </a: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跨学院访问数据对比分析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23480" marR="1234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拥有全表访问权限，可执行数据新增、修改、删除操作，支持多表关联的复杂统计查询（如 </a:t>
                      </a:r>
                      <a:r>
                        <a:rPr lang="en-GB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JOIN </a:t>
                      </a:r>
                      <a:r>
                        <a:rPr lang="zh-CN" sz="1800" b="0" strike="noStrike" spc="-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用户、学院、论文、点击记录等）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 marL="123480" marR="123480"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9" name="Rectangle 1"/>
          <p:cNvSpPr/>
          <p:nvPr/>
        </p:nvSpPr>
        <p:spPr>
          <a:xfrm>
            <a:off x="6841800" y="1533600"/>
            <a:ext cx="18396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numCol="1" spcCol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br>
              <a:rPr sz="1800"/>
            </a:b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64"/>
          <p:cNvSpPr/>
          <p:nvPr/>
        </p:nvSpPr>
        <p:spPr>
          <a:xfrm>
            <a:off x="-1800" y="-43920"/>
            <a:ext cx="12191760" cy="6901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1" name="矩形 56"/>
          <p:cNvSpPr/>
          <p:nvPr/>
        </p:nvSpPr>
        <p:spPr>
          <a:xfrm>
            <a:off x="-3600" y="1636560"/>
            <a:ext cx="12195360" cy="3584160"/>
          </a:xfrm>
          <a:prstGeom prst="rect">
            <a:avLst/>
          </a:prstGeom>
          <a:solidFill>
            <a:srgbClr val="0F4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矩形 81"/>
          <p:cNvSpPr/>
          <p:nvPr/>
        </p:nvSpPr>
        <p:spPr>
          <a:xfrm>
            <a:off x="1279440" y="1055520"/>
            <a:ext cx="9629280" cy="4746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360">
              <a:srgbClr val="A5A5A5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" name="椭圆 11"/>
          <p:cNvSpPr/>
          <p:nvPr/>
        </p:nvSpPr>
        <p:spPr>
          <a:xfrm>
            <a:off x="5454720" y="1661040"/>
            <a:ext cx="1283040" cy="1283040"/>
          </a:xfrm>
          <a:prstGeom prst="ellipse">
            <a:avLst/>
          </a:prstGeom>
          <a:solidFill>
            <a:srgbClr val="2D5F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4" name="文本框 12"/>
          <p:cNvSpPr/>
          <p:nvPr/>
        </p:nvSpPr>
        <p:spPr>
          <a:xfrm>
            <a:off x="5501880" y="1667880"/>
            <a:ext cx="1188360" cy="115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7000" b="0" strike="noStrike" spc="-1">
                <a:solidFill>
                  <a:srgbClr val="FFFFFF"/>
                </a:solidFill>
                <a:latin typeface="Times New Roman"/>
              </a:rPr>
              <a:t>2</a:t>
            </a:r>
            <a:endParaRPr lang="en-US" sz="7000" b="0" strike="noStrike" spc="-1">
              <a:latin typeface="Arial"/>
            </a:endParaRPr>
          </a:p>
        </p:txBody>
      </p:sp>
      <p:sp>
        <p:nvSpPr>
          <p:cNvPr id="185" name="文本框 13"/>
          <p:cNvSpPr/>
          <p:nvPr/>
        </p:nvSpPr>
        <p:spPr>
          <a:xfrm>
            <a:off x="1418760" y="3427920"/>
            <a:ext cx="9631080" cy="10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sz="6000" b="1" strike="noStrike" spc="-1">
                <a:solidFill>
                  <a:srgbClr val="0053A3"/>
                </a:solidFill>
                <a:latin typeface="Times New Roman"/>
                <a:ea typeface="微软雅黑"/>
              </a:rPr>
              <a:t>数据库设计与 </a:t>
            </a:r>
            <a:r>
              <a:rPr lang="en-GB" sz="6000" b="1" strike="noStrike" spc="-1">
                <a:solidFill>
                  <a:srgbClr val="0053A3"/>
                </a:solidFill>
                <a:latin typeface="微软雅黑"/>
                <a:ea typeface="微软雅黑"/>
              </a:rPr>
              <a:t>ER</a:t>
            </a:r>
            <a:r>
              <a:rPr lang="en-GB" sz="6000" b="1" strike="noStrike" spc="-1">
                <a:solidFill>
                  <a:srgbClr val="0053A3"/>
                </a:solidFill>
                <a:latin typeface="Times New Roman"/>
                <a:ea typeface="微软雅黑"/>
              </a:rPr>
              <a:t> </a:t>
            </a:r>
            <a:r>
              <a:rPr lang="zh-CN" sz="6000" b="1" strike="noStrike" spc="-1">
                <a:solidFill>
                  <a:srgbClr val="0053A3"/>
                </a:solidFill>
                <a:latin typeface="Times New Roman"/>
                <a:ea typeface="微软雅黑"/>
              </a:rPr>
              <a:t>模型</a:t>
            </a:r>
            <a:endParaRPr lang="en-US" sz="6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矩形 37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7" name="矩形 42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88" name="组合 2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189" name="图片 1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0" name="矩形 43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191" name="组合 8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192" name="图片 2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3" name="矩形 45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194" name="图片 3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95" name="标题 2"/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数据库设计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196" name="矩形 46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" name="文本框 8"/>
          <p:cNvSpPr/>
          <p:nvPr/>
        </p:nvSpPr>
        <p:spPr>
          <a:xfrm>
            <a:off x="556200" y="1178280"/>
            <a:ext cx="10963800" cy="53869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zh-CN" sz="2200" strike="noStrike" spc="-1">
                <a:latin typeface="Times New Roman"/>
                <a:ea typeface="微软雅黑"/>
              </a:rPr>
              <a:t>整个数据库共</a:t>
            </a:r>
            <a:r>
              <a:rPr lang="en-US" sz="2200" b="1" u="sng" strike="noStrike" spc="-1">
                <a:solidFill>
                  <a:schemeClr val="accent1">
                    <a:lumMod val="75000"/>
                  </a:schemeClr>
                </a:solidFill>
                <a:latin typeface="Times New Roman"/>
                <a:ea typeface="微软雅黑"/>
              </a:rPr>
              <a:t>8</a:t>
            </a:r>
            <a:r>
              <a:rPr lang="zh-CN" sz="2200" b="1" u="sng" strike="noStrike" spc="-1">
                <a:solidFill>
                  <a:schemeClr val="accent1">
                    <a:lumMod val="75000"/>
                  </a:schemeClr>
                </a:solidFill>
                <a:latin typeface="Times New Roman"/>
                <a:ea typeface="微软雅黑"/>
              </a:rPr>
              <a:t>张表</a:t>
            </a:r>
            <a:r>
              <a:rPr lang="zh-CN" sz="2200" strike="noStrike" spc="-1">
                <a:latin typeface="Times New Roman"/>
                <a:ea typeface="微软雅黑"/>
              </a:rPr>
              <a:t>，可分为</a:t>
            </a:r>
            <a:r>
              <a:rPr lang="en-US" sz="2200" b="1" u="sng" strike="noStrike" spc="-1">
                <a:solidFill>
                  <a:schemeClr val="accent1">
                    <a:lumMod val="75000"/>
                  </a:schemeClr>
                </a:solidFill>
                <a:latin typeface="Times New Roman"/>
                <a:ea typeface="微软雅黑"/>
              </a:rPr>
              <a:t>4</a:t>
            </a:r>
            <a:r>
              <a:rPr lang="zh-CN" sz="2200" b="1" u="sng" strike="noStrike" spc="-1">
                <a:solidFill>
                  <a:schemeClr val="accent1">
                    <a:lumMod val="75000"/>
                  </a:schemeClr>
                </a:solidFill>
                <a:latin typeface="Times New Roman"/>
                <a:ea typeface="微软雅黑"/>
              </a:rPr>
              <a:t>类核心实体</a:t>
            </a:r>
            <a:r>
              <a:rPr lang="zh-CN" sz="2200" strike="noStrike" spc="-1">
                <a:latin typeface="Times New Roman"/>
                <a:ea typeface="微软雅黑"/>
              </a:rPr>
              <a:t>：</a:t>
            </a:r>
            <a:endParaRPr lang="en-US" altLang="zh-CN" sz="2200" strike="noStrike" spc="-1">
              <a:latin typeface="Times New Roman"/>
              <a:ea typeface="微软雅黑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C0230B-22E9-2132-4BBD-ACE1DB74CC94}"/>
              </a:ext>
            </a:extLst>
          </p:cNvPr>
          <p:cNvSpPr txBox="1"/>
          <p:nvPr/>
        </p:nvSpPr>
        <p:spPr>
          <a:xfrm>
            <a:off x="1029960" y="1944669"/>
            <a:ext cx="10963800" cy="4190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000" b="1" strike="noStrike" spc="-1">
                <a:solidFill>
                  <a:srgbClr val="000000"/>
                </a:solidFill>
                <a:latin typeface="Times New Roman"/>
                <a:ea typeface="微软雅黑"/>
              </a:rPr>
              <a:t>基础配置类：</a:t>
            </a: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学院表（</a:t>
            </a:r>
            <a:r>
              <a:rPr lang="en-US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colleges</a:t>
            </a: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）、论文分类表（</a:t>
            </a:r>
            <a:r>
              <a:rPr lang="en-US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categories</a:t>
            </a: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），是系统的基础字典数据，核心字段为唯一标识与名称编码；</a:t>
            </a:r>
            <a:endParaRPr lang="en-US" altLang="zh-CN" sz="2000" b="0" strike="noStrike" spc="-1">
              <a:latin typeface="Arial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000" b="1" strike="noStrike" spc="-1">
                <a:solidFill>
                  <a:srgbClr val="000000"/>
                </a:solidFill>
                <a:latin typeface="Times New Roman"/>
                <a:ea typeface="微软雅黑"/>
              </a:rPr>
              <a:t>核心业务类：</a:t>
            </a: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用户表（</a:t>
            </a:r>
            <a:r>
              <a:rPr lang="en-US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users</a:t>
            </a: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）、论文表（</a:t>
            </a:r>
            <a:r>
              <a:rPr lang="en-US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papers</a:t>
            </a: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），用户表关联学院，论文表关联分类，同时预留</a:t>
            </a:r>
            <a:r>
              <a:rPr lang="en-US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created_at/updated_at</a:t>
            </a: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字段追溯数据变更；</a:t>
            </a:r>
            <a:endParaRPr lang="en-US" altLang="zh-CN" sz="2000" b="0" strike="noStrike" spc="-1">
              <a:latin typeface="Arial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000" b="1" strike="noStrike" spc="-1">
                <a:solidFill>
                  <a:srgbClr val="000000"/>
                </a:solidFill>
                <a:latin typeface="Times New Roman"/>
                <a:ea typeface="微软雅黑"/>
              </a:rPr>
              <a:t>关联关系类：</a:t>
            </a: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论文</a:t>
            </a:r>
            <a:r>
              <a:rPr lang="en-US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-</a:t>
            </a: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关键词关联表（</a:t>
            </a:r>
            <a:r>
              <a:rPr lang="en-US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paper_keywords</a:t>
            </a: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），解决论文与关键词的多对多关系，通过复合主键保证关联唯一性；</a:t>
            </a:r>
            <a:endParaRPr lang="en-US" altLang="zh-CN" sz="2000" b="0" strike="noStrike" spc="-1">
              <a:latin typeface="Arial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000" b="1" strike="noStrike" spc="-1">
                <a:solidFill>
                  <a:srgbClr val="000000"/>
                </a:solidFill>
                <a:latin typeface="Times New Roman"/>
                <a:ea typeface="微软雅黑"/>
              </a:rPr>
              <a:t>行为与任务类：</a:t>
            </a: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点击行为表（</a:t>
            </a:r>
            <a:r>
              <a:rPr lang="en-US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paper_clicks</a:t>
            </a: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）、用户事项表（</a:t>
            </a:r>
            <a:r>
              <a:rPr lang="en-US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user_tasks</a:t>
            </a: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），分别支撑用户行为分析与日程管理功能，通过索引优化查询效率。</a:t>
            </a:r>
            <a:endParaRPr lang="en-US" altLang="zh-CN" sz="2000" b="0" strike="noStrike" spc="-1">
              <a:solidFill>
                <a:srgbClr val="000000"/>
              </a:solidFill>
              <a:latin typeface="Times New Roman"/>
              <a:ea typeface="微软雅黑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altLang="zh-CN" sz="2000" b="0" strike="noStrike" spc="-1">
              <a:latin typeface="Arial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A14AD3-C5F1-2AB5-D51B-B2BFD477AC1D}"/>
              </a:ext>
            </a:extLst>
          </p:cNvPr>
          <p:cNvSpPr txBox="1"/>
          <p:nvPr/>
        </p:nvSpPr>
        <p:spPr>
          <a:xfrm>
            <a:off x="555480" y="5731929"/>
            <a:ext cx="9811678" cy="499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所有表均通过</a:t>
            </a:r>
            <a:r>
              <a:rPr lang="zh-CN" altLang="zh-CN" sz="2000" b="1" u="sng" strike="noStrike" spc="-1">
                <a:solidFill>
                  <a:schemeClr val="accent1">
                    <a:lumMod val="75000"/>
                  </a:schemeClr>
                </a:solidFill>
                <a:latin typeface="Times New Roman"/>
                <a:ea typeface="微软雅黑"/>
              </a:rPr>
              <a:t>主键自增</a:t>
            </a:r>
            <a:r>
              <a:rPr lang="zh-CN" altLang="zh-CN" sz="2000" b="0" strike="noStrike" spc="-1">
                <a:solidFill>
                  <a:srgbClr val="000000"/>
                </a:solidFill>
                <a:latin typeface="Times New Roman"/>
                <a:ea typeface="微软雅黑"/>
              </a:rPr>
              <a:t>保证唯一性，外键关联核心实体，确保数据一致性。</a:t>
            </a:r>
            <a:endParaRPr lang="en-US" altLang="zh-CN" sz="20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矩形 27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" name="矩形 28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01" name="组合 6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202" name="图片 10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3" name="矩形 33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204" name="组合 7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205" name="图片 11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6" name="矩形 34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207" name="图片 13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08" name="标题 4"/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ER</a:t>
            </a:r>
            <a:r>
              <a:rPr 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图设计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209" name="矩形 35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11" name="图片 210"/>
          <p:cNvPicPr/>
          <p:nvPr/>
        </p:nvPicPr>
        <p:blipFill>
          <a:blip r:embed="rId5"/>
          <a:stretch/>
        </p:blipFill>
        <p:spPr>
          <a:xfrm>
            <a:off x="1668109" y="1094760"/>
            <a:ext cx="8449668" cy="5318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矩形 64"/>
          <p:cNvSpPr/>
          <p:nvPr/>
        </p:nvSpPr>
        <p:spPr>
          <a:xfrm>
            <a:off x="-3600" y="-43920"/>
            <a:ext cx="12191760" cy="6901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" name="矩形 56"/>
          <p:cNvSpPr/>
          <p:nvPr/>
        </p:nvSpPr>
        <p:spPr>
          <a:xfrm>
            <a:off x="-3600" y="1636560"/>
            <a:ext cx="12195360" cy="3584160"/>
          </a:xfrm>
          <a:prstGeom prst="rect">
            <a:avLst/>
          </a:prstGeom>
          <a:solidFill>
            <a:srgbClr val="0F4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" name="矩形 81"/>
          <p:cNvSpPr/>
          <p:nvPr/>
        </p:nvSpPr>
        <p:spPr>
          <a:xfrm>
            <a:off x="1279440" y="1055520"/>
            <a:ext cx="9629280" cy="4746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360">
              <a:srgbClr val="A5A5A5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5" name="椭圆 11"/>
          <p:cNvSpPr/>
          <p:nvPr/>
        </p:nvSpPr>
        <p:spPr>
          <a:xfrm>
            <a:off x="5454720" y="1661040"/>
            <a:ext cx="1283040" cy="1283040"/>
          </a:xfrm>
          <a:prstGeom prst="ellipse">
            <a:avLst/>
          </a:prstGeom>
          <a:solidFill>
            <a:srgbClr val="2D5F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6" name="文本框 12"/>
          <p:cNvSpPr/>
          <p:nvPr/>
        </p:nvSpPr>
        <p:spPr>
          <a:xfrm>
            <a:off x="5501880" y="1667880"/>
            <a:ext cx="1188360" cy="115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7000" b="0" strike="noStrike" spc="-1">
                <a:solidFill>
                  <a:srgbClr val="FFFFFF"/>
                </a:solidFill>
                <a:latin typeface="Times New Roman"/>
              </a:rPr>
              <a:t>3</a:t>
            </a:r>
            <a:endParaRPr lang="en-US" sz="7000" b="0" strike="noStrike" spc="-1">
              <a:latin typeface="Arial"/>
            </a:endParaRPr>
          </a:p>
        </p:txBody>
      </p:sp>
      <p:sp>
        <p:nvSpPr>
          <p:cNvPr id="217" name="文本框 2"/>
          <p:cNvSpPr/>
          <p:nvPr/>
        </p:nvSpPr>
        <p:spPr>
          <a:xfrm>
            <a:off x="2683080" y="3251160"/>
            <a:ext cx="7178760" cy="10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sz="6000" b="1" strike="noStrike" spc="-1">
                <a:solidFill>
                  <a:srgbClr val="0053A3"/>
                </a:solidFill>
                <a:latin typeface="微软雅黑"/>
                <a:ea typeface="微软雅黑"/>
              </a:rPr>
              <a:t>数据库核心技术实现</a:t>
            </a:r>
            <a:endParaRPr lang="en-US" sz="6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E1383-4E08-A5D9-8BD2-95F139D9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14">
            <a:extLst>
              <a:ext uri="{FF2B5EF4-FFF2-40B4-BE49-F238E27FC236}">
                <a16:creationId xmlns:a16="http://schemas.microsoft.com/office/drawing/2014/main" id="{50DD1AF2-1CD6-3BDF-FA06-BEBB8C36F71A}"/>
              </a:ext>
            </a:extLst>
          </p:cNvPr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5" name="矩形 15">
            <a:extLst>
              <a:ext uri="{FF2B5EF4-FFF2-40B4-BE49-F238E27FC236}">
                <a16:creationId xmlns:a16="http://schemas.microsoft.com/office/drawing/2014/main" id="{29B03B6F-E0F1-EFA8-3607-5968E12E2E20}"/>
              </a:ext>
            </a:extLst>
          </p:cNvPr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46" name="组合 4">
            <a:extLst>
              <a:ext uri="{FF2B5EF4-FFF2-40B4-BE49-F238E27FC236}">
                <a16:creationId xmlns:a16="http://schemas.microsoft.com/office/drawing/2014/main" id="{58648471-8BF9-4136-B4C0-249EDABA061B}"/>
              </a:ext>
            </a:extLst>
          </p:cNvPr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247" name="图片 6">
              <a:extLst>
                <a:ext uri="{FF2B5EF4-FFF2-40B4-BE49-F238E27FC236}">
                  <a16:creationId xmlns:a16="http://schemas.microsoft.com/office/drawing/2014/main" id="{F4A10B65-8028-64EA-F88D-8C5D00692DB0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48" name="矩形 7">
              <a:extLst>
                <a:ext uri="{FF2B5EF4-FFF2-40B4-BE49-F238E27FC236}">
                  <a16:creationId xmlns:a16="http://schemas.microsoft.com/office/drawing/2014/main" id="{7EC7F5AC-E8A1-9CC1-9709-DEB29923BA54}"/>
                </a:ext>
              </a:extLst>
            </p:cNvPr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249" name="组合 11">
            <a:extLst>
              <a:ext uri="{FF2B5EF4-FFF2-40B4-BE49-F238E27FC236}">
                <a16:creationId xmlns:a16="http://schemas.microsoft.com/office/drawing/2014/main" id="{5BCC3A09-9A98-777F-1B64-F2C07F144774}"/>
              </a:ext>
            </a:extLst>
          </p:cNvPr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250" name="图片 12">
              <a:extLst>
                <a:ext uri="{FF2B5EF4-FFF2-40B4-BE49-F238E27FC236}">
                  <a16:creationId xmlns:a16="http://schemas.microsoft.com/office/drawing/2014/main" id="{C12D21B9-1929-59DC-E099-0ED96E1F503D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51" name="矩形 13">
              <a:extLst>
                <a:ext uri="{FF2B5EF4-FFF2-40B4-BE49-F238E27FC236}">
                  <a16:creationId xmlns:a16="http://schemas.microsoft.com/office/drawing/2014/main" id="{1181BE7E-A070-B09B-DAE8-A197C6D4A1B2}"/>
                </a:ext>
              </a:extLst>
            </p:cNvPr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252" name="图片 17">
              <a:extLst>
                <a:ext uri="{FF2B5EF4-FFF2-40B4-BE49-F238E27FC236}">
                  <a16:creationId xmlns:a16="http://schemas.microsoft.com/office/drawing/2014/main" id="{CDCCB742-8086-1894-7EA9-11E794CF8585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53" name="标题 1">
            <a:extLst>
              <a:ext uri="{FF2B5EF4-FFF2-40B4-BE49-F238E27FC236}">
                <a16:creationId xmlns:a16="http://schemas.microsoft.com/office/drawing/2014/main" id="{1FFB796F-E469-59FF-B210-D4324D423BAD}"/>
              </a:ext>
            </a:extLst>
          </p:cNvPr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1.</a:t>
            </a:r>
            <a:r>
              <a:rPr 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增删改查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254" name="矩形 1">
            <a:extLst>
              <a:ext uri="{FF2B5EF4-FFF2-40B4-BE49-F238E27FC236}">
                <a16:creationId xmlns:a16="http://schemas.microsoft.com/office/drawing/2014/main" id="{34AF45E5-BE8D-30A5-6DE3-BEA635564383}"/>
              </a:ext>
            </a:extLst>
          </p:cNvPr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6" name="矩形 49">
            <a:extLst>
              <a:ext uri="{FF2B5EF4-FFF2-40B4-BE49-F238E27FC236}">
                <a16:creationId xmlns:a16="http://schemas.microsoft.com/office/drawing/2014/main" id="{1CD97F13-AB15-23FB-1B88-4B0557D13FDF}"/>
              </a:ext>
            </a:extLst>
          </p:cNvPr>
          <p:cNvSpPr/>
          <p:nvPr/>
        </p:nvSpPr>
        <p:spPr>
          <a:xfrm>
            <a:off x="1757160" y="1360800"/>
            <a:ext cx="7766035" cy="1026000"/>
          </a:xfrm>
          <a:prstGeom prst="rect">
            <a:avLst/>
          </a:prstGeom>
          <a:ln>
            <a:solidFill>
              <a:srgbClr val="00479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en-US" sz="1800" b="0" strike="noStrike" spc="-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zh-CN" sz="1800" b="0" strike="noStrike" spc="-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导入论文时添加关键词关联（多对多）：</a:t>
            </a:r>
            <a:endParaRPr lang="en-US" altLang="zh-CN" spc="-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  <a:p>
            <a:pPr lvl="1"/>
            <a:r>
              <a:rPr lang="en-US" b="0" strike="noStrike" spc="-1">
                <a:solidFill>
                  <a:srgbClr val="000000"/>
                </a:solidFill>
                <a:latin typeface="Times New Roman"/>
              </a:rPr>
              <a:t>INSERT IGNORE INTO paper_keywords (paper_id, keyword_id)</a:t>
            </a:r>
            <a:endParaRPr lang="en-US" b="0" strike="noStrike" spc="-1">
              <a:latin typeface="Arial"/>
            </a:endParaRPr>
          </a:p>
          <a:p>
            <a:pPr lvl="1"/>
            <a:r>
              <a:rPr lang="en-US" b="0" strike="noStrike" spc="-1">
                <a:solidFill>
                  <a:srgbClr val="000000"/>
                </a:solidFill>
                <a:latin typeface="Times New Roman"/>
              </a:rPr>
              <a:t>VALUES (%s, %s);</a:t>
            </a:r>
            <a:endParaRPr lang="en-US" b="0" strike="noStrike" spc="-1">
              <a:latin typeface="Arial"/>
            </a:endParaRPr>
          </a:p>
        </p:txBody>
      </p:sp>
      <p:sp>
        <p:nvSpPr>
          <p:cNvPr id="257" name="圆角矩形 3">
            <a:extLst>
              <a:ext uri="{FF2B5EF4-FFF2-40B4-BE49-F238E27FC236}">
                <a16:creationId xmlns:a16="http://schemas.microsoft.com/office/drawing/2014/main" id="{5BEE540F-E1AF-E8CE-E0E4-4715EDCAD06D}"/>
              </a:ext>
            </a:extLst>
          </p:cNvPr>
          <p:cNvSpPr/>
          <p:nvPr/>
        </p:nvSpPr>
        <p:spPr>
          <a:xfrm>
            <a:off x="619920" y="1576800"/>
            <a:ext cx="533630" cy="42012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77840" dist="37674" dir="2700000" algn="tl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sz="1800" b="0" strike="noStrike" spc="-1">
                <a:solidFill>
                  <a:schemeClr val="bg1"/>
                </a:solidFill>
                <a:latin typeface="Arial"/>
              </a:rPr>
              <a:t>增</a:t>
            </a:r>
            <a:endParaRPr lang="en-US" sz="1800" b="0" strike="noStrike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59" name="矩形 32">
            <a:extLst>
              <a:ext uri="{FF2B5EF4-FFF2-40B4-BE49-F238E27FC236}">
                <a16:creationId xmlns:a16="http://schemas.microsoft.com/office/drawing/2014/main" id="{9374B2C3-0DC4-89CC-1143-4FA60A1D1FD8}"/>
              </a:ext>
            </a:extLst>
          </p:cNvPr>
          <p:cNvSpPr/>
          <p:nvPr/>
        </p:nvSpPr>
        <p:spPr>
          <a:xfrm>
            <a:off x="1757160" y="2671920"/>
            <a:ext cx="7766035" cy="1066860"/>
          </a:xfrm>
          <a:prstGeom prst="rect">
            <a:avLst/>
          </a:prstGeom>
          <a:noFill/>
          <a:ln w="25400">
            <a:solidFill>
              <a:srgbClr val="FCC54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en-US" sz="1800" b="0" strike="noStrike" spc="-1">
                <a:solidFill>
                  <a:srgbClr val="000000"/>
                </a:solidFill>
                <a:latin typeface="Times New Roman"/>
              </a:rPr>
              <a:t>  </a:t>
            </a:r>
            <a:r>
              <a:rPr lang="zh-CN" sz="1800" b="0" strike="noStrike" spc="-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学生删除自己的论文浏览记录：</a:t>
            </a:r>
            <a:endParaRPr lang="en-US" altLang="zh-CN" sz="1800" b="0" strike="noStrike" spc="-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endParaRPr lang="en-US" sz="800" b="0" strike="noStrike" spc="-1">
              <a:latin typeface="Arial"/>
            </a:endParaRPr>
          </a:p>
          <a:p>
            <a:pPr lvl="1"/>
            <a:r>
              <a:rPr lang="en-US" b="0" strike="noStrike" spc="-1">
                <a:solidFill>
                  <a:srgbClr val="000000"/>
                </a:solidFill>
                <a:latin typeface="Times New Roman"/>
              </a:rPr>
              <a:t>DELETE FROM paper_clicks </a:t>
            </a:r>
            <a:endParaRPr lang="en-US" b="0" strike="noStrike" spc="-1">
              <a:latin typeface="Arial"/>
            </a:endParaRPr>
          </a:p>
          <a:p>
            <a:pPr lvl="1"/>
            <a:r>
              <a:rPr lang="en-US" b="0" strike="noStrike" spc="-1">
                <a:solidFill>
                  <a:srgbClr val="000000"/>
                </a:solidFill>
                <a:latin typeface="Times New Roman"/>
              </a:rPr>
              <a:t>WHERE click_id = :click_id</a:t>
            </a:r>
            <a:r>
              <a:rPr lang="zh-CN" altLang="en-US" b="0" strike="noStrike" spc="-1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US" b="0" strike="noStrike" spc="-1">
                <a:solidFill>
                  <a:srgbClr val="000000"/>
                </a:solidFill>
                <a:latin typeface="Times New Roman"/>
              </a:rPr>
              <a:t>AND user_id = :user_id;</a:t>
            </a:r>
            <a:endParaRPr lang="en-US" b="0" strike="noStrike" spc="-1">
              <a:latin typeface="Arial"/>
            </a:endParaRPr>
          </a:p>
        </p:txBody>
      </p:sp>
      <p:sp>
        <p:nvSpPr>
          <p:cNvPr id="260" name="圆角矩形 34">
            <a:extLst>
              <a:ext uri="{FF2B5EF4-FFF2-40B4-BE49-F238E27FC236}">
                <a16:creationId xmlns:a16="http://schemas.microsoft.com/office/drawing/2014/main" id="{16547948-82E7-9169-4685-28B4E9F2CB58}"/>
              </a:ext>
            </a:extLst>
          </p:cNvPr>
          <p:cNvSpPr/>
          <p:nvPr/>
        </p:nvSpPr>
        <p:spPr>
          <a:xfrm>
            <a:off x="619920" y="2876400"/>
            <a:ext cx="533630" cy="420120"/>
          </a:xfrm>
          <a:prstGeom prst="roundRect">
            <a:avLst>
              <a:gd name="adj" fmla="val 33409"/>
            </a:avLst>
          </a:prstGeom>
          <a:solidFill>
            <a:srgbClr val="FCC540"/>
          </a:solidFill>
          <a:ln>
            <a:noFill/>
          </a:ln>
          <a:effectLst>
            <a:outerShdw blurRad="177840" dist="37674" dir="2700000" algn="tl" rotWithShape="0">
              <a:schemeClr val="accent2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sz="1800" b="0" strike="noStrike" spc="-1">
                <a:solidFill>
                  <a:schemeClr val="bg1"/>
                </a:solidFill>
                <a:latin typeface="Arial"/>
              </a:rPr>
              <a:t>删</a:t>
            </a:r>
            <a:endParaRPr lang="en-US" sz="1800" b="0" strike="noStrike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63" name="圆角矩形 40">
            <a:extLst>
              <a:ext uri="{FF2B5EF4-FFF2-40B4-BE49-F238E27FC236}">
                <a16:creationId xmlns:a16="http://schemas.microsoft.com/office/drawing/2014/main" id="{5DE30D20-805A-481C-2989-DB802067F56C}"/>
              </a:ext>
            </a:extLst>
          </p:cNvPr>
          <p:cNvSpPr/>
          <p:nvPr/>
        </p:nvSpPr>
        <p:spPr>
          <a:xfrm>
            <a:off x="619920" y="4290120"/>
            <a:ext cx="533631" cy="42012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77840" dist="37674" dir="2700000" algn="tl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sz="1800" b="0" strike="noStrike" spc="-1">
                <a:solidFill>
                  <a:schemeClr val="bg1"/>
                </a:solidFill>
                <a:latin typeface="Arial"/>
              </a:rPr>
              <a:t>改</a:t>
            </a:r>
            <a:endParaRPr lang="en-US" sz="1800" b="0" strike="noStrike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65" name="矩形 44">
            <a:extLst>
              <a:ext uri="{FF2B5EF4-FFF2-40B4-BE49-F238E27FC236}">
                <a16:creationId xmlns:a16="http://schemas.microsoft.com/office/drawing/2014/main" id="{90F9EB54-5580-43BD-CEF5-A30DBBC718AE}"/>
              </a:ext>
            </a:extLst>
          </p:cNvPr>
          <p:cNvSpPr/>
          <p:nvPr/>
        </p:nvSpPr>
        <p:spPr>
          <a:xfrm>
            <a:off x="1757160" y="5301721"/>
            <a:ext cx="9941604" cy="1249559"/>
          </a:xfrm>
          <a:prstGeom prst="rect">
            <a:avLst/>
          </a:prstGeom>
          <a:noFill/>
          <a:ln w="25400">
            <a:solidFill>
              <a:srgbClr val="FCC54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buNone/>
            </a:pPr>
            <a:r>
              <a:rPr lang="zh-CN" altLang="en-US" sz="1800" b="0" strike="noStrike" spc="-1">
                <a:solidFill>
                  <a:srgbClr val="000000"/>
                </a:solidFill>
                <a:latin typeface="Times New Roman"/>
              </a:rPr>
              <a:t>  </a:t>
            </a:r>
            <a:r>
              <a:rPr lang="zh-CN" sz="1800" b="0" strike="noStrike" spc="-1">
                <a:solidFill>
                  <a:srgbClr val="000000"/>
                </a:solidFill>
                <a:latin typeface="Times New Roman"/>
              </a:rPr>
              <a:t>搜索论文标题或摘要包含关键词的记录：</a:t>
            </a:r>
            <a:endParaRPr lang="en-US" altLang="zh-CN" sz="1800" b="0" strike="noStrike" spc="-1">
              <a:solidFill>
                <a:srgbClr val="000000"/>
              </a:solidFill>
              <a:latin typeface="Times New Roman"/>
            </a:endParaRPr>
          </a:p>
          <a:p>
            <a:pPr>
              <a:buNone/>
            </a:pPr>
            <a:endParaRPr lang="en-US" sz="800" b="0" strike="noStrike" spc="-1">
              <a:latin typeface="Arial"/>
            </a:endParaRPr>
          </a:p>
          <a:p>
            <a:pPr lvl="1"/>
            <a:r>
              <a:rPr lang="en-US" b="0" strike="noStrike" spc="-1">
                <a:solidFill>
                  <a:srgbClr val="000000"/>
                </a:solidFill>
                <a:latin typeface="Times New Roman"/>
              </a:rPr>
              <a:t>SELECT paper_id, title, abstract, pdf_url  FROM papers</a:t>
            </a:r>
            <a:endParaRPr lang="en-US" b="0" strike="noStrike" spc="-1">
              <a:latin typeface="Arial"/>
            </a:endParaRPr>
          </a:p>
          <a:p>
            <a:pPr lvl="1"/>
            <a:r>
              <a:rPr lang="en-US" b="0" strike="noStrike" spc="-1">
                <a:solidFill>
                  <a:srgbClr val="000000"/>
                </a:solidFill>
                <a:latin typeface="Times New Roman"/>
              </a:rPr>
              <a:t>WHERE   title LIKE CONCAT('%', :keyword, '%')   OR abstract LIKE CONCAT('%', :keyword, '%’);</a:t>
            </a:r>
            <a:endParaRPr lang="en-US" b="0" strike="noStrike" spc="-1">
              <a:latin typeface="Arial"/>
            </a:endParaRPr>
          </a:p>
          <a:p>
            <a:pPr>
              <a:spcAft>
                <a:spcPts val="1199"/>
              </a:spcAft>
              <a:buNone/>
              <a:tabLst>
                <a:tab pos="0" algn="l"/>
              </a:tabLst>
            </a:pPr>
            <a:endParaRPr lang="en-US" sz="1400" b="0" strike="noStrike" spc="-1">
              <a:latin typeface="Arial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22369-8186-EB76-B508-E4C148E25E87}"/>
              </a:ext>
            </a:extLst>
          </p:cNvPr>
          <p:cNvSpPr txBox="1"/>
          <p:nvPr/>
        </p:nvSpPr>
        <p:spPr>
          <a:xfrm>
            <a:off x="1757160" y="3964860"/>
            <a:ext cx="8486465" cy="1200329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删除关键词关联时自动更新关键词总频次：</a:t>
            </a:r>
            <a:endParaRPr lang="en-US" altLang="zh-CN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1"/>
            <a:b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UPDATE keywords </a:t>
            </a:r>
          </a:p>
          <a:p>
            <a:pPr lvl="1"/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SET total_count = total_count - 1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WHERE keyword_id = OLD.keyword_id;  END</a:t>
            </a:r>
          </a:p>
        </p:txBody>
      </p:sp>
      <p:sp>
        <p:nvSpPr>
          <p:cNvPr id="5" name="圆角矩形 34">
            <a:extLst>
              <a:ext uri="{FF2B5EF4-FFF2-40B4-BE49-F238E27FC236}">
                <a16:creationId xmlns:a16="http://schemas.microsoft.com/office/drawing/2014/main" id="{8388D2B8-5041-CD96-3C21-531112901A0C}"/>
              </a:ext>
            </a:extLst>
          </p:cNvPr>
          <p:cNvSpPr/>
          <p:nvPr/>
        </p:nvSpPr>
        <p:spPr>
          <a:xfrm>
            <a:off x="619920" y="5521320"/>
            <a:ext cx="533630" cy="420120"/>
          </a:xfrm>
          <a:prstGeom prst="roundRect">
            <a:avLst>
              <a:gd name="adj" fmla="val 33409"/>
            </a:avLst>
          </a:prstGeom>
          <a:solidFill>
            <a:srgbClr val="FCC540"/>
          </a:solidFill>
          <a:ln>
            <a:noFill/>
          </a:ln>
          <a:effectLst>
            <a:outerShdw blurRad="177840" dist="37674" dir="2700000" algn="tl" rotWithShape="0">
              <a:schemeClr val="accent2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0" strike="noStrike" spc="-1">
                <a:solidFill>
                  <a:schemeClr val="bg1"/>
                </a:solidFill>
                <a:latin typeface="Arial"/>
              </a:rPr>
              <a:t>查</a:t>
            </a:r>
            <a:endParaRPr lang="en-US" sz="1800" b="0" strike="noStrike" spc="-1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2535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矩形 14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8" name="矩形 15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69" name="组合 4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270" name="图片 6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71" name="矩形 7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272" name="组合 11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273" name="图片 12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74" name="矩形 13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275" name="图片 17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76" name="标题 1"/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2.</a:t>
            </a:r>
            <a:r>
              <a:rPr lang="zh-CN" sz="2800" b="1" u="sng" strike="noStrike" spc="-1">
                <a:solidFill>
                  <a:srgbClr val="00469A"/>
                </a:solidFill>
                <a:latin typeface="微软雅黑"/>
                <a:ea typeface="微软雅黑"/>
              </a:rPr>
              <a:t>索引</a:t>
            </a:r>
            <a:r>
              <a:rPr lang="zh-CN" alt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与视图设计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277" name="矩形 1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0" name="矩形 19"/>
          <p:cNvSpPr/>
          <p:nvPr/>
        </p:nvSpPr>
        <p:spPr>
          <a:xfrm>
            <a:off x="558360" y="1608860"/>
            <a:ext cx="3727438" cy="170905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160" dist="101314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sp>
        <p:nvSpPr>
          <p:cNvPr id="281" name="矩形 3"/>
          <p:cNvSpPr/>
          <p:nvPr/>
        </p:nvSpPr>
        <p:spPr>
          <a:xfrm>
            <a:off x="698184" y="1935858"/>
            <a:ext cx="3538627" cy="13002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strike="noStrike" spc="-1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联合索引</a:t>
            </a:r>
            <a:r>
              <a:rPr lang="zh-CN" altLang="en-US" sz="1600" b="0" strike="noStrike" spc="-1">
                <a:solidFill>
                  <a:srgbClr val="000000"/>
                </a:solidFill>
                <a:latin typeface="Times New Roman"/>
              </a:rPr>
              <a:t>：</a:t>
            </a:r>
            <a:endParaRPr lang="en-US" sz="1600" b="0" strike="noStrike" spc="-1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idx_paper_keyword </a:t>
            </a:r>
            <a:r>
              <a:rPr lang="zh-CN" sz="1600" b="0" strike="noStrike" spc="-1">
                <a:solidFill>
                  <a:srgbClr val="000000"/>
                </a:solidFill>
                <a:latin typeface="Times New Roman"/>
              </a:rPr>
              <a:t>优化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paper_keywords </a:t>
            </a:r>
            <a:r>
              <a:rPr lang="zh-CN" sz="1600" b="0" strike="noStrike" spc="-1">
                <a:solidFill>
                  <a:srgbClr val="000000"/>
                </a:solidFill>
                <a:latin typeface="Times New Roman"/>
              </a:rPr>
              <a:t>表与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papers </a:t>
            </a:r>
            <a:r>
              <a:rPr lang="zh-CN" sz="1600" b="0" strike="noStrike" spc="-1">
                <a:solidFill>
                  <a:srgbClr val="000000"/>
                </a:solidFill>
                <a:latin typeface="Times New Roman"/>
              </a:rPr>
              <a:t>表、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keywords </a:t>
            </a:r>
            <a:r>
              <a:rPr lang="zh-CN" sz="1600" b="0" strike="noStrike" spc="-1">
                <a:solidFill>
                  <a:srgbClr val="000000"/>
                </a:solidFill>
                <a:latin typeface="Times New Roman"/>
              </a:rPr>
              <a:t>表的关联查询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1600" b="0" strike="noStrike" spc="-1">
              <a:latin typeface="Arial"/>
            </a:endParaRPr>
          </a:p>
        </p:txBody>
      </p:sp>
      <p:sp>
        <p:nvSpPr>
          <p:cNvPr id="282" name="矩形 5"/>
          <p:cNvSpPr/>
          <p:nvPr/>
        </p:nvSpPr>
        <p:spPr>
          <a:xfrm>
            <a:off x="1049578" y="1856181"/>
            <a:ext cx="2781720" cy="40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4472C4"/>
                </a:solidFill>
                <a:latin typeface="Arial"/>
              </a:rPr>
              <a:t> 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284" name="矩形 9"/>
          <p:cNvSpPr/>
          <p:nvPr/>
        </p:nvSpPr>
        <p:spPr>
          <a:xfrm>
            <a:off x="4420978" y="1608861"/>
            <a:ext cx="3419640" cy="197748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160" dist="101314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sp>
        <p:nvSpPr>
          <p:cNvPr id="285" name="矩形 10"/>
          <p:cNvSpPr/>
          <p:nvPr/>
        </p:nvSpPr>
        <p:spPr>
          <a:xfrm>
            <a:off x="4435558" y="1474560"/>
            <a:ext cx="3389760" cy="18916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  <a:buNone/>
            </a:pPr>
            <a:endParaRPr lang="en-US" altLang="zh-CN" sz="1600" spc="-1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1600" b="0" strike="noStrike" spc="-1">
                <a:solidFill>
                  <a:srgbClr val="000000"/>
                </a:solidFill>
                <a:latin typeface="Times New Roman"/>
              </a:rPr>
              <a:t>      </a:t>
            </a:r>
            <a:r>
              <a:rPr lang="zh-CN" sz="1600" b="0" strike="noStrike" spc="-1">
                <a:solidFill>
                  <a:srgbClr val="000000"/>
                </a:solidFill>
                <a:latin typeface="Times New Roman"/>
              </a:rPr>
              <a:t>匹配浏览记录函数的查询逻辑，按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user_id </a:t>
            </a:r>
            <a:r>
              <a:rPr lang="zh-CN" sz="1600" b="0" strike="noStrike" spc="-1">
                <a:solidFill>
                  <a:srgbClr val="000000"/>
                </a:solidFill>
                <a:latin typeface="Times New Roman"/>
              </a:rPr>
              <a:t>过滤并按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click_time </a:t>
            </a:r>
            <a:r>
              <a:rPr lang="zh-CN" sz="1600" b="0" strike="noStrike" spc="-1">
                <a:solidFill>
                  <a:srgbClr val="000000"/>
                </a:solidFill>
                <a:latin typeface="Times New Roman"/>
              </a:rPr>
              <a:t>排序时，索引可避免全表扫描</a:t>
            </a:r>
            <a:r>
              <a:rPr lang="zh-CN" altLang="en-US" sz="1600" spc="-1">
                <a:latin typeface="Arial"/>
              </a:rPr>
              <a:t>，进而</a:t>
            </a:r>
            <a:r>
              <a:rPr lang="zh-CN" sz="1600" b="0" strike="noStrike" spc="-1">
                <a:solidFill>
                  <a:srgbClr val="000000"/>
                </a:solidFill>
                <a:latin typeface="Times New Roman"/>
              </a:rPr>
              <a:t>提升学生端「浏览记录」页面的数据加载速度</a:t>
            </a:r>
            <a:r>
              <a:rPr lang="zh-CN" altLang="en-US" sz="1600" b="0" strike="noStrike" spc="-1">
                <a:solidFill>
                  <a:srgbClr val="000000"/>
                </a:solidFill>
                <a:latin typeface="Times New Roman"/>
              </a:rPr>
              <a:t>。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1400" b="0" strike="noStrike" spc="-1">
              <a:latin typeface="Arial"/>
            </a:endParaRPr>
          </a:p>
        </p:txBody>
      </p:sp>
      <p:sp>
        <p:nvSpPr>
          <p:cNvPr id="286" name="矩形 16"/>
          <p:cNvSpPr/>
          <p:nvPr/>
        </p:nvSpPr>
        <p:spPr>
          <a:xfrm>
            <a:off x="4739578" y="1856181"/>
            <a:ext cx="2781720" cy="40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ED7D31"/>
                </a:solidFill>
                <a:latin typeface="Arial"/>
              </a:rPr>
              <a:t> 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287" name="矩形 23"/>
          <p:cNvSpPr/>
          <p:nvPr/>
        </p:nvSpPr>
        <p:spPr>
          <a:xfrm>
            <a:off x="8110978" y="1474581"/>
            <a:ext cx="3419640" cy="247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54160" dist="101314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sp>
        <p:nvSpPr>
          <p:cNvPr id="288" name="矩形 29"/>
          <p:cNvSpPr/>
          <p:nvPr/>
        </p:nvSpPr>
        <p:spPr>
          <a:xfrm>
            <a:off x="8110978" y="1608861"/>
            <a:ext cx="3419640" cy="22506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160" dist="101314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sp>
        <p:nvSpPr>
          <p:cNvPr id="289" name="矩形 30"/>
          <p:cNvSpPr/>
          <p:nvPr/>
        </p:nvSpPr>
        <p:spPr>
          <a:xfrm>
            <a:off x="8429578" y="1853520"/>
            <a:ext cx="3064238" cy="18640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sz="1600" b="1" strike="noStrike" spc="-1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复合索引 </a:t>
            </a:r>
            <a:r>
              <a:rPr lang="zh-CN" sz="1600" b="0" strike="noStrike" spc="-1">
                <a:solidFill>
                  <a:srgbClr val="000000"/>
                </a:solidFill>
                <a:latin typeface="Times New Roman"/>
              </a:rPr>
              <a:t>：</a:t>
            </a:r>
            <a:endParaRPr lang="en-US" altLang="zh-CN" sz="1600" b="0" strike="noStrike" spc="-1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idx_paper_title_created </a:t>
            </a:r>
            <a:r>
              <a:rPr lang="zh-CN" sz="1600" b="0" strike="noStrike" spc="-1">
                <a:solidFill>
                  <a:srgbClr val="000000"/>
                </a:solidFill>
                <a:latin typeface="Times New Roman"/>
              </a:rPr>
              <a:t>针对包含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title LIKE ‘%</a:t>
            </a:r>
            <a:r>
              <a:rPr lang="zh-CN" sz="1600" b="0" strike="noStrike" spc="-1">
                <a:solidFill>
                  <a:srgbClr val="000000"/>
                </a:solidFill>
                <a:latin typeface="Times New Roman"/>
              </a:rPr>
              <a:t>关键词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%’ </a:t>
            </a:r>
            <a:r>
              <a:rPr lang="zh-CN" sz="1600" b="0" strike="noStrike" spc="-1">
                <a:solidFill>
                  <a:srgbClr val="000000"/>
                </a:solidFill>
                <a:latin typeface="Times New Roman"/>
              </a:rPr>
              <a:t>且按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created_at DESC </a:t>
            </a:r>
            <a:r>
              <a:rPr lang="zh-CN" sz="1600" b="0" strike="noStrike" spc="-1">
                <a:solidFill>
                  <a:srgbClr val="000000"/>
                </a:solidFill>
                <a:latin typeface="Times New Roman"/>
              </a:rPr>
              <a:t>排序的查询，可大幅减少全表扫描的开销</a:t>
            </a:r>
            <a:r>
              <a:rPr lang="zh-CN" altLang="en-US" sz="1600" b="0" strike="noStrike" spc="-1">
                <a:solidFill>
                  <a:srgbClr val="000000"/>
                </a:solidFill>
                <a:latin typeface="Times New Roman"/>
              </a:rPr>
              <a:t>。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1600" b="0" strike="noStrike" spc="-1">
              <a:latin typeface="Arial"/>
            </a:endParaRPr>
          </a:p>
        </p:txBody>
      </p:sp>
      <p:sp>
        <p:nvSpPr>
          <p:cNvPr id="290" name="矩形 31"/>
          <p:cNvSpPr/>
          <p:nvPr/>
        </p:nvSpPr>
        <p:spPr>
          <a:xfrm>
            <a:off x="8429578" y="1856181"/>
            <a:ext cx="2781720" cy="40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4472C4"/>
                </a:solidFill>
                <a:latin typeface="Arial"/>
              </a:rPr>
              <a:t> 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3B77D4-5123-6635-9AB0-433344591B33}"/>
              </a:ext>
            </a:extLst>
          </p:cNvPr>
          <p:cNvSpPr txBox="1"/>
          <p:nvPr/>
        </p:nvSpPr>
        <p:spPr>
          <a:xfrm>
            <a:off x="684989" y="1305971"/>
            <a:ext cx="3510898" cy="4990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zh-CN" sz="2000" b="0" strike="noStrike" spc="-1">
                <a:solidFill>
                  <a:schemeClr val="bg1"/>
                </a:solidFill>
                <a:latin typeface="Times New Roman"/>
              </a:rPr>
              <a:t>论文 </a:t>
            </a:r>
            <a:r>
              <a:rPr lang="en-US" altLang="zh-CN" sz="2000" b="0" strike="noStrike" spc="-1">
                <a:solidFill>
                  <a:schemeClr val="bg1"/>
                </a:solidFill>
                <a:latin typeface="Times New Roman"/>
              </a:rPr>
              <a:t>ID </a:t>
            </a:r>
            <a:r>
              <a:rPr lang="zh-CN" altLang="zh-CN" sz="2000" b="0" strike="noStrike" spc="-1">
                <a:solidFill>
                  <a:schemeClr val="bg1"/>
                </a:solidFill>
                <a:latin typeface="Times New Roman"/>
              </a:rPr>
              <a:t>与关键词关联表索引</a:t>
            </a:r>
            <a:endParaRPr lang="en-US" altLang="zh-CN" sz="2000" b="0" strike="noStrike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879009-672D-B457-5686-31201CD4704D}"/>
              </a:ext>
            </a:extLst>
          </p:cNvPr>
          <p:cNvSpPr txBox="1"/>
          <p:nvPr/>
        </p:nvSpPr>
        <p:spPr>
          <a:xfrm>
            <a:off x="4936203" y="1275819"/>
            <a:ext cx="2006477" cy="499047"/>
          </a:xfrm>
          <a:prstGeom prst="rect">
            <a:avLst/>
          </a:prstGeom>
          <a:solidFill>
            <a:srgbClr val="FCC54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000" b="0" strike="noStrike" spc="-1">
                <a:solidFill>
                  <a:schemeClr val="bg1"/>
                </a:solidFill>
                <a:latin typeface="Times New Roman"/>
              </a:rPr>
              <a:t>点击记录表</a:t>
            </a:r>
            <a:r>
              <a:rPr lang="zh-CN" altLang="zh-CN" sz="2000" b="0" strike="noStrike" spc="-1">
                <a:solidFill>
                  <a:schemeClr val="bg1"/>
                </a:solidFill>
                <a:latin typeface="Times New Roman"/>
              </a:rPr>
              <a:t>索引</a:t>
            </a:r>
            <a:endParaRPr lang="en-US" altLang="zh-CN" sz="2000" b="0" strike="noStrike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7FF7C5-C169-D8EB-22D1-7956109C866D}"/>
              </a:ext>
            </a:extLst>
          </p:cNvPr>
          <p:cNvSpPr txBox="1"/>
          <p:nvPr/>
        </p:nvSpPr>
        <p:spPr>
          <a:xfrm>
            <a:off x="8146769" y="1292198"/>
            <a:ext cx="3347338" cy="4990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zh-CN" sz="2000" b="0" strike="noStrike" spc="-1">
                <a:solidFill>
                  <a:schemeClr val="bg1"/>
                </a:solidFill>
                <a:latin typeface="Times New Roman"/>
              </a:rPr>
              <a:t>论文表标题与创建时间索引</a:t>
            </a:r>
            <a:endParaRPr lang="en-US" altLang="zh-CN" sz="2000" b="0" strike="noStrike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CC50F1-AF73-57C1-EAD6-8863EBA1F51B}"/>
              </a:ext>
            </a:extLst>
          </p:cNvPr>
          <p:cNvSpPr txBox="1"/>
          <p:nvPr/>
        </p:nvSpPr>
        <p:spPr>
          <a:xfrm>
            <a:off x="542820" y="4163940"/>
            <a:ext cx="3758517" cy="1525161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600" b="0" strike="noStrike" spc="-1">
                <a:solidFill>
                  <a:srgbClr val="000000"/>
                </a:solidFill>
                <a:latin typeface="Times New Roman"/>
              </a:rPr>
              <a:t>CREATE INDEX idx_paper_keyword ON paper_keywords(paper_id, keyword_id);</a:t>
            </a:r>
            <a:endParaRPr lang="en-US" altLang="zh-CN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1600" b="0" strike="noStrike" spc="-1">
                <a:solidFill>
                  <a:srgbClr val="000000"/>
                </a:solidFill>
                <a:latin typeface="Times New Roman"/>
              </a:rPr>
              <a:t>CREATE UNIQUE INDEX idx_keyword_word ON keywords(word);</a:t>
            </a:r>
            <a:endParaRPr lang="en-US" altLang="zh-CN" sz="1600" b="0" strike="noStrike" spc="-1">
              <a:latin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522BC7-AC0E-7BEC-DB6D-304911443181}"/>
              </a:ext>
            </a:extLst>
          </p:cNvPr>
          <p:cNvSpPr txBox="1"/>
          <p:nvPr/>
        </p:nvSpPr>
        <p:spPr>
          <a:xfrm>
            <a:off x="4435558" y="4163650"/>
            <a:ext cx="3644731" cy="1525739"/>
          </a:xfrm>
          <a:prstGeom prst="rect">
            <a:avLst/>
          </a:prstGeom>
          <a:noFill/>
          <a:ln w="25400">
            <a:solidFill>
              <a:srgbClr val="FCC54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600" b="0" strike="noStrike" spc="-1">
                <a:solidFill>
                  <a:srgbClr val="000000"/>
                </a:solidFill>
                <a:latin typeface="Times New Roman"/>
              </a:rPr>
              <a:t>CREATE INDEX idx_user_click_time ON paper_clicks(user_id, click_time);</a:t>
            </a:r>
            <a:endParaRPr lang="en-US" altLang="zh-CN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1600" b="0" strike="noStrike" spc="-1">
                <a:solidFill>
                  <a:srgbClr val="000000"/>
                </a:solidFill>
                <a:latin typeface="Times New Roman"/>
              </a:rPr>
              <a:t>#</a:t>
            </a:r>
            <a:r>
              <a:rPr lang="zh-CN" altLang="zh-CN" sz="1600" b="0" strike="noStrike" spc="-1">
                <a:solidFill>
                  <a:srgbClr val="000000"/>
                </a:solidFill>
                <a:latin typeface="Times New Roman"/>
              </a:rPr>
              <a:t>为点击记录表创建复合索引（加速用户浏览记录查询）</a:t>
            </a:r>
            <a:endParaRPr lang="en-US" altLang="zh-CN" sz="1600" b="0" strike="noStrike" spc="-1">
              <a:latin typeface="Arial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0204ED-7B7A-6E2D-7CB6-18A40A3FC795}"/>
              </a:ext>
            </a:extLst>
          </p:cNvPr>
          <p:cNvSpPr txBox="1"/>
          <p:nvPr/>
        </p:nvSpPr>
        <p:spPr>
          <a:xfrm>
            <a:off x="8215699" y="4149195"/>
            <a:ext cx="3644732" cy="786497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600" b="0" strike="noStrike" spc="-1">
                <a:solidFill>
                  <a:srgbClr val="000000"/>
                </a:solidFill>
                <a:latin typeface="Times New Roman"/>
              </a:rPr>
              <a:t>CREATE INDEX idx_paper_title_created ON papers(title(200), created_at);</a:t>
            </a:r>
            <a:endParaRPr lang="en-US" altLang="zh-CN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矩形 14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2" name="矩形 15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93" name="组合 4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294" name="图片 6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95" name="矩形 7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296" name="组合 11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297" name="图片 12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98" name="矩形 13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299" name="图片 17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01" name="矩形 1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4" name="对角圆角矩形 3"/>
          <p:cNvSpPr/>
          <p:nvPr/>
        </p:nvSpPr>
        <p:spPr>
          <a:xfrm>
            <a:off x="4779000" y="1004040"/>
            <a:ext cx="7086240" cy="502884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pic>
        <p:nvPicPr>
          <p:cNvPr id="305" name="图片 9"/>
          <p:cNvPicPr/>
          <p:nvPr/>
        </p:nvPicPr>
        <p:blipFill>
          <a:blip r:embed="rId5"/>
          <a:srcRect b="16375"/>
          <a:stretch>
            <a:fillRect/>
          </a:stretch>
        </p:blipFill>
        <p:spPr>
          <a:xfrm>
            <a:off x="630960" y="3088880"/>
            <a:ext cx="4692240" cy="3416320"/>
          </a:xfrm>
          <a:prstGeom prst="rect">
            <a:avLst/>
          </a:prstGeom>
          <a:ln w="0">
            <a:noFill/>
          </a:ln>
        </p:spPr>
      </p:pic>
      <p:sp>
        <p:nvSpPr>
          <p:cNvPr id="306" name="文本框 10"/>
          <p:cNvSpPr/>
          <p:nvPr/>
        </p:nvSpPr>
        <p:spPr>
          <a:xfrm>
            <a:off x="588240" y="1012313"/>
            <a:ext cx="10780566" cy="20675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封装</a:t>
            </a: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paper_clicks</a:t>
            </a:r>
            <a:r>
              <a:rPr lang="zh-CN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（点击记录）、</a:t>
            </a: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papers</a:t>
            </a:r>
            <a:r>
              <a:rPr lang="zh-CN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（论文表）、</a:t>
            </a: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r>
              <a:rPr lang="zh-CN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（分类表）的</a:t>
            </a:r>
            <a:r>
              <a:rPr lang="zh-CN" sz="2000" b="1" strike="noStrike" spc="-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关联逻辑</a:t>
            </a:r>
            <a:r>
              <a:rPr lang="zh-CN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，直接返回学生浏览记录所需的</a:t>
            </a:r>
            <a:r>
              <a:rPr lang="zh-CN" sz="2000" b="1" strike="noStrike" spc="-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完整信息</a:t>
            </a:r>
            <a:r>
              <a:rPr lang="zh-CN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b="0" strike="noStrike" spc="-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endParaRPr lang="en-US" sz="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学生端调用时只需简单查询：</a:t>
            </a:r>
            <a:r>
              <a:rPr lang="en-US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student_click_details WHERE user_id = :user_id ORDER BY click_time DESC</a:t>
            </a:r>
            <a:r>
              <a:rPr lang="zh-CN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sz="2000" b="1" strike="noStrike" spc="-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无需重复编写多表关联代码</a:t>
            </a:r>
            <a:r>
              <a:rPr lang="zh-CN" altLang="en-US" sz="20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sz="20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74A5DE6-541E-A193-C323-E9C7D77A9DE0}"/>
              </a:ext>
            </a:extLst>
          </p:cNvPr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2.索引与</a:t>
            </a:r>
            <a:r>
              <a:rPr lang="en-US" sz="2800" b="1" u="sng" strike="noStrike" spc="-1">
                <a:solidFill>
                  <a:srgbClr val="00469A"/>
                </a:solidFill>
                <a:latin typeface="微软雅黑"/>
                <a:ea typeface="微软雅黑"/>
              </a:rPr>
              <a:t>视图</a:t>
            </a:r>
            <a:r>
              <a:rPr lang="zh-CN" alt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设计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C6D52A-5F83-FDA7-3440-90FDA145EC90}"/>
              </a:ext>
            </a:extLst>
          </p:cNvPr>
          <p:cNvSpPr txBox="1"/>
          <p:nvPr/>
        </p:nvSpPr>
        <p:spPr>
          <a:xfrm>
            <a:off x="5861574" y="3109871"/>
            <a:ext cx="6003666" cy="3416320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18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VIEW student_click_details AS</a:t>
            </a:r>
            <a:endParaRPr lang="en-US" altLang="zh-CN" sz="1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18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endParaRPr lang="en-US" altLang="zh-CN" sz="1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18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pc.click_id,</a:t>
            </a:r>
            <a:endParaRPr lang="en-US" altLang="zh-CN" sz="1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18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pc.user_id,</a:t>
            </a:r>
            <a:endParaRPr lang="en-US" altLang="zh-CN" sz="1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18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pc.paper_id,</a:t>
            </a:r>
            <a:endParaRPr lang="en-US" altLang="zh-CN" sz="1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18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pc.click_time,</a:t>
            </a:r>
            <a:endParaRPr lang="en-US" altLang="zh-CN" sz="1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18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p.title AS paper_title,</a:t>
            </a:r>
            <a:endParaRPr lang="en-US" altLang="zh-CN" sz="1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18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p.pdf_url,</a:t>
            </a:r>
            <a:endParaRPr lang="en-US" altLang="zh-CN" sz="1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18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c.name AS category_name  -- </a:t>
            </a:r>
            <a:r>
              <a:rPr lang="zh-CN" altLang="zh-CN" sz="18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关联论文分类名称</a:t>
            </a:r>
            <a:endParaRPr lang="en-US" altLang="zh-CN" sz="1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18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paper_clicks pc</a:t>
            </a:r>
            <a:endParaRPr lang="en-US" altLang="zh-CN" sz="1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18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JOIN papers p ON pc.paper_id = p.paper_id</a:t>
            </a:r>
            <a:endParaRPr lang="en-US" altLang="zh-CN" sz="1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1800" b="0" strike="noStrike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JOIN categories c ON p.category_id = c.category_id;</a:t>
            </a:r>
            <a:endParaRPr lang="en-US" altLang="zh-CN" sz="18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矩形 14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8" name="矩形 15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309" name="组合 4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310" name="图片 6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11" name="矩形 7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312" name="组合 11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313" name="图片 12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14" name="矩形 13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315" name="图片 17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16" name="标题 1"/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3.</a:t>
            </a:r>
            <a:r>
              <a:rPr 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触发器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317" name="矩形 1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9" name="圆角矩形 19"/>
          <p:cNvSpPr/>
          <p:nvPr/>
        </p:nvSpPr>
        <p:spPr>
          <a:xfrm>
            <a:off x="663120" y="1789560"/>
            <a:ext cx="596520" cy="596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8FAADC">
                  <a:alpha val="76078"/>
                </a:srgbClr>
              </a:gs>
              <a:gs pos="100000">
                <a:srgbClr val="4472C4"/>
              </a:gs>
            </a:gsLst>
            <a:lin ang="2700000"/>
          </a:gradFill>
          <a:ln>
            <a:noFill/>
          </a:ln>
          <a:effectLst>
            <a:outerShdw blurRad="177840" dist="37674" dir="2700000" algn="tl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sp>
        <p:nvSpPr>
          <p:cNvPr id="320" name="矩形 20"/>
          <p:cNvSpPr/>
          <p:nvPr/>
        </p:nvSpPr>
        <p:spPr>
          <a:xfrm>
            <a:off x="1631520" y="1163160"/>
            <a:ext cx="5838059" cy="184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262626"/>
                </a:solidFill>
                <a:latin typeface="Arial"/>
              </a:rPr>
              <a:t>-- </a:t>
            </a:r>
            <a:r>
              <a:rPr lang="zh-CN" sz="2000" b="0" strike="noStrike" spc="-1">
                <a:solidFill>
                  <a:srgbClr val="262626"/>
                </a:solidFill>
                <a:latin typeface="Arial"/>
              </a:rPr>
              <a:t>触发器</a:t>
            </a:r>
            <a:r>
              <a:rPr lang="en-US" sz="2000" b="0" strike="noStrike" spc="-1">
                <a:solidFill>
                  <a:srgbClr val="262626"/>
                </a:solidFill>
                <a:latin typeface="Arial"/>
              </a:rPr>
              <a:t>:</a:t>
            </a:r>
            <a:r>
              <a:rPr lang="en-US" sz="2000" b="0" strike="noStrike" spc="-1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2000" b="1" strike="noStrike" spc="-1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tr_paper_keywords_after_insert</a:t>
            </a:r>
            <a:endParaRPr lang="en-US" sz="2000" b="1" strike="noStrike" spc="-1">
              <a:solidFill>
                <a:schemeClr val="accent1">
                  <a:lumMod val="75000"/>
                </a:schemeClr>
              </a:solidFill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262626"/>
                </a:solidFill>
                <a:latin typeface="Times New Roman"/>
              </a:rPr>
              <a:t>-- </a:t>
            </a:r>
            <a:r>
              <a:rPr lang="zh-CN" sz="2000" b="0" strike="noStrike" spc="-1">
                <a:solidFill>
                  <a:srgbClr val="262626"/>
                </a:solidFill>
                <a:latin typeface="Times New Roman"/>
              </a:rPr>
              <a:t>时机</a:t>
            </a:r>
            <a:r>
              <a:rPr lang="en-US" sz="2000" b="0" strike="noStrike" spc="-1">
                <a:solidFill>
                  <a:srgbClr val="262626"/>
                </a:solidFill>
                <a:latin typeface="Times New Roman"/>
              </a:rPr>
              <a:t>: </a:t>
            </a:r>
            <a:r>
              <a:rPr lang="zh-CN" sz="2000" b="0" strike="noStrike" spc="-1">
                <a:solidFill>
                  <a:srgbClr val="262626"/>
                </a:solidFill>
                <a:latin typeface="Times New Roman"/>
              </a:rPr>
              <a:t>每当向 </a:t>
            </a:r>
            <a:r>
              <a:rPr lang="en-US" sz="2000" b="0" strike="noStrike" spc="-1">
                <a:solidFill>
                  <a:srgbClr val="262626"/>
                </a:solidFill>
                <a:latin typeface="Times New Roman"/>
              </a:rPr>
              <a:t>paper_keywords </a:t>
            </a:r>
            <a:r>
              <a:rPr lang="zh-CN" sz="2000" b="0" strike="noStrike" spc="-1">
                <a:solidFill>
                  <a:srgbClr val="262626"/>
                </a:solidFill>
                <a:latin typeface="Times New Roman"/>
              </a:rPr>
              <a:t>表插入一条新记录后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262626"/>
                </a:solidFill>
                <a:latin typeface="Times New Roman"/>
              </a:rPr>
              <a:t>-- </a:t>
            </a:r>
            <a:r>
              <a:rPr lang="zh-CN" sz="2000" b="0" strike="noStrike" spc="-1">
                <a:solidFill>
                  <a:srgbClr val="262626"/>
                </a:solidFill>
                <a:latin typeface="Times New Roman"/>
              </a:rPr>
              <a:t>功能</a:t>
            </a:r>
            <a:r>
              <a:rPr lang="en-US" sz="2000" b="0" strike="noStrike" spc="-1">
                <a:solidFill>
                  <a:srgbClr val="262626"/>
                </a:solidFill>
                <a:latin typeface="Times New Roman"/>
              </a:rPr>
              <a:t>: </a:t>
            </a:r>
            <a:r>
              <a:rPr lang="zh-CN" sz="2000" b="0" strike="noStrike" spc="-1">
                <a:solidFill>
                  <a:srgbClr val="262626"/>
                </a:solidFill>
                <a:latin typeface="Times New Roman"/>
              </a:rPr>
              <a:t>自动将对应关键词的 </a:t>
            </a:r>
            <a:r>
              <a:rPr lang="en-US" sz="2000" b="0" strike="noStrike" spc="-1">
                <a:solidFill>
                  <a:srgbClr val="262626"/>
                </a:solidFill>
                <a:latin typeface="Times New Roman"/>
              </a:rPr>
              <a:t>total_count </a:t>
            </a:r>
            <a:r>
              <a:rPr lang="zh-CN" sz="2000" b="0" strike="noStrike" spc="-1">
                <a:solidFill>
                  <a:srgbClr val="262626"/>
                </a:solidFill>
                <a:latin typeface="Times New Roman"/>
              </a:rPr>
              <a:t>计数 </a:t>
            </a:r>
            <a:r>
              <a:rPr lang="en-US" sz="2000" b="0" strike="noStrike" spc="-1">
                <a:solidFill>
                  <a:srgbClr val="262626"/>
                </a:solidFill>
                <a:latin typeface="Times New Roman"/>
              </a:rPr>
              <a:t>+1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321" name="直接连接符 21"/>
          <p:cNvSpPr/>
          <p:nvPr/>
        </p:nvSpPr>
        <p:spPr>
          <a:xfrm flipV="1">
            <a:off x="690480" y="3602880"/>
            <a:ext cx="11383920" cy="32400"/>
          </a:xfrm>
          <a:prstGeom prst="line">
            <a:avLst/>
          </a:prstGeom>
          <a:ln w="57150">
            <a:solidFill>
              <a:schemeClr val="accent1">
                <a:lumMod val="75000"/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2" name="矩形 22"/>
          <p:cNvSpPr/>
          <p:nvPr/>
        </p:nvSpPr>
        <p:spPr>
          <a:xfrm>
            <a:off x="1631520" y="3729240"/>
            <a:ext cx="6058120" cy="278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zh-CN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r>
              <a:rPr lang="en-US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strike="noStrike" spc="-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tr_paper_keywords_after_delete</a:t>
            </a: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zh-CN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时机</a:t>
            </a:r>
            <a:r>
              <a:rPr lang="en-US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每当从 </a:t>
            </a:r>
            <a:r>
              <a:rPr lang="en-US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paper_keywords </a:t>
            </a:r>
            <a:r>
              <a:rPr lang="zh-CN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表删除一条记录后</a:t>
            </a:r>
            <a:endParaRPr lang="en-US" sz="20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zh-CN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功能</a:t>
            </a:r>
            <a:r>
              <a:rPr lang="en-US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自动将对应关键词的 </a:t>
            </a:r>
            <a:r>
              <a:rPr lang="en-US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total_count </a:t>
            </a:r>
            <a:r>
              <a:rPr lang="zh-CN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 </a:t>
            </a:r>
            <a:r>
              <a:rPr lang="en-US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sz="20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zh-CN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应用场景</a:t>
            </a:r>
            <a:r>
              <a:rPr lang="en-US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tabLst>
                <a:tab pos="0" algn="l"/>
              </a:tabLst>
            </a:pPr>
            <a:r>
              <a:rPr lang="zh-CN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手动删除 </a:t>
            </a:r>
            <a:r>
              <a:rPr lang="en-US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paper_keywords </a:t>
            </a:r>
            <a:r>
              <a:rPr lang="zh-CN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记录</a:t>
            </a:r>
            <a:endParaRPr lang="en-US" sz="20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tabLst>
                <a:tab pos="0" algn="l"/>
              </a:tabLst>
            </a:pPr>
            <a:r>
              <a:rPr lang="zh-CN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删除 </a:t>
            </a:r>
            <a:r>
              <a:rPr lang="en-US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papers </a:t>
            </a:r>
            <a:r>
              <a:rPr lang="zh-CN" sz="2000" b="0" strike="noStrike" spc="-1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表中的论文</a:t>
            </a:r>
            <a:endParaRPr lang="en-US" sz="20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3" name="圆角矩形 23"/>
          <p:cNvSpPr/>
          <p:nvPr/>
        </p:nvSpPr>
        <p:spPr>
          <a:xfrm>
            <a:off x="662760" y="4879800"/>
            <a:ext cx="596520" cy="596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4B183">
                  <a:alpha val="76078"/>
                </a:srgbClr>
              </a:gs>
              <a:gs pos="100000">
                <a:srgbClr val="ED7D31"/>
              </a:gs>
            </a:gsLst>
            <a:lin ang="2700000"/>
          </a:gradFill>
          <a:ln>
            <a:noFill/>
          </a:ln>
          <a:effectLst>
            <a:outerShdw blurRad="177840" dist="37674" dir="2700000" algn="tl" rotWithShape="0">
              <a:schemeClr val="accent2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pic>
        <p:nvPicPr>
          <p:cNvPr id="324" name="图片 24" descr="343439383331313b343532303031393bd2b5bca8b9dcc0ed"/>
          <p:cNvPicPr/>
          <p:nvPr/>
        </p:nvPicPr>
        <p:blipFill>
          <a:blip r:embed="rId5"/>
          <a:stretch/>
        </p:blipFill>
        <p:spPr>
          <a:xfrm>
            <a:off x="802800" y="1929240"/>
            <a:ext cx="317160" cy="317160"/>
          </a:xfrm>
          <a:prstGeom prst="rect">
            <a:avLst/>
          </a:prstGeom>
          <a:ln w="0">
            <a:noFill/>
          </a:ln>
        </p:spPr>
      </p:pic>
      <p:pic>
        <p:nvPicPr>
          <p:cNvPr id="325" name="图片 25" descr="343439383331313b343532303032303bb8f6c8cbd0c5cfa2"/>
          <p:cNvPicPr/>
          <p:nvPr/>
        </p:nvPicPr>
        <p:blipFill>
          <a:blip r:embed="rId6"/>
          <a:stretch/>
        </p:blipFill>
        <p:spPr>
          <a:xfrm>
            <a:off x="804240" y="5021640"/>
            <a:ext cx="313200" cy="313200"/>
          </a:xfrm>
          <a:prstGeom prst="rect">
            <a:avLst/>
          </a:prstGeom>
          <a:ln w="0">
            <a:noFill/>
          </a:ln>
        </p:spPr>
      </p:pic>
      <p:sp>
        <p:nvSpPr>
          <p:cNvPr id="326" name="文本框 28"/>
          <p:cNvSpPr/>
          <p:nvPr/>
        </p:nvSpPr>
        <p:spPr>
          <a:xfrm>
            <a:off x="7689640" y="1163160"/>
            <a:ext cx="4460400" cy="2279880"/>
          </a:xfrm>
          <a:prstGeom prst="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CREATE TRIGGER tr_paper_keywords_after_insert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AFTER INSERT ON paper_keywords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FOR EACH ROW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BEGIN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    UPDATE keywords 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    SET total_count = total_count + 1 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    WHERE keyword_id = NEW.keyword_id;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END$$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27" name="文本框 29"/>
          <p:cNvSpPr/>
          <p:nvPr/>
        </p:nvSpPr>
        <p:spPr>
          <a:xfrm>
            <a:off x="7530333" y="3890335"/>
            <a:ext cx="4619707" cy="2060649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CREATE TRIGGER tr_paper_keywords_after_delete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AFTER DELETE ON paper_keywords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FOR EACH ROW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BEGIN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    UPDATE keywords 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    SET total_count = total_count - 1 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    WHERE keyword_id = OLD.keyword_id;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</a:rPr>
              <a:t>END$$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矩形 14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9" name="矩形 15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330" name="组合 4"/>
          <p:cNvGrpSpPr/>
          <p:nvPr/>
        </p:nvGrpSpPr>
        <p:grpSpPr>
          <a:xfrm>
            <a:off x="0" y="6612480"/>
            <a:ext cx="12191760" cy="323640"/>
            <a:chOff x="0" y="6612480"/>
            <a:chExt cx="12191760" cy="323640"/>
          </a:xfrm>
        </p:grpSpPr>
        <p:pic>
          <p:nvPicPr>
            <p:cNvPr id="331" name="图片 6"/>
            <p:cNvPicPr/>
            <p:nvPr/>
          </p:nvPicPr>
          <p:blipFill>
            <a:blip r:embed="rId2"/>
            <a:stretch/>
          </p:blipFill>
          <p:spPr>
            <a:xfrm>
              <a:off x="0" y="661248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32" name="矩形 7"/>
            <p:cNvSpPr/>
            <p:nvPr/>
          </p:nvSpPr>
          <p:spPr>
            <a:xfrm>
              <a:off x="0" y="661248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333" name="组合 11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334" name="图片 12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35" name="矩形 13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336" name="图片 17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37" name="标题 1"/>
          <p:cNvSpPr/>
          <p:nvPr/>
        </p:nvSpPr>
        <p:spPr>
          <a:xfrm>
            <a:off x="729720" y="17388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4.</a:t>
            </a:r>
            <a:r>
              <a:rPr lang="zh-CN" sz="2800" b="1" u="sng" strike="noStrike" spc="-1">
                <a:solidFill>
                  <a:srgbClr val="00469A"/>
                </a:solidFill>
                <a:latin typeface="微软雅黑"/>
                <a:ea typeface="微软雅黑"/>
              </a:rPr>
              <a:t>备份</a:t>
            </a:r>
            <a:r>
              <a:rPr 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与恢复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338" name="矩形 1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0" name="圆角矩形 26"/>
          <p:cNvSpPr/>
          <p:nvPr/>
        </p:nvSpPr>
        <p:spPr>
          <a:xfrm>
            <a:off x="479040" y="1275120"/>
            <a:ext cx="11514720" cy="2453732"/>
          </a:xfrm>
          <a:prstGeom prst="roundRect">
            <a:avLst>
              <a:gd name="adj" fmla="val 9706"/>
            </a:avLst>
          </a:prstGeom>
          <a:solidFill>
            <a:schemeClr val="lt1">
              <a:lumMod val="100000"/>
              <a:alpha val="10000"/>
            </a:schemeClr>
          </a:solidFill>
          <a:ln w="635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  <p:txBody>
          <a:bodyPr lIns="1007640" tIns="0" rIns="179640" bIns="108000" anchor="ctr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zh-CN" sz="2000" b="1" strike="noStrike" spc="-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</a:rPr>
              <a:t>存储过程设计</a:t>
            </a:r>
            <a:endParaRPr lang="en-US" sz="2000" b="1" strike="noStrike" spc="-1">
              <a:solidFill>
                <a:schemeClr val="accent1">
                  <a:lumMod val="75000"/>
                </a:schemeClr>
              </a:solidFill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262626"/>
                </a:solidFill>
                <a:latin typeface="Times New Roman"/>
                <a:ea typeface="微软雅黑"/>
              </a:rPr>
              <a:t>SET v_backup_file = CONCAT('paper_sys_backup_', DATE_FORMAT(NOW(), '%Y%m%d_%H%i%s'), '.sql');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262626"/>
                </a:solidFill>
                <a:latin typeface="Times New Roman"/>
                <a:ea typeface="微软雅黑"/>
              </a:rPr>
              <a:t>SET @backup_cmd = CONCAT('mysqldump paper_sys &gt; "', v_backup_file, '"');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262626"/>
                </a:solidFill>
                <a:latin typeface="Times New Roman"/>
                <a:ea typeface="微软雅黑"/>
              </a:rPr>
              <a:t>PREPARE stmt FROM @backup_cmd;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262626"/>
                </a:solidFill>
                <a:latin typeface="Times New Roman"/>
                <a:ea typeface="微软雅黑"/>
              </a:rPr>
              <a:t>EXECUTE stmt;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rgbClr val="262626"/>
                </a:solidFill>
                <a:latin typeface="Times New Roman"/>
                <a:ea typeface="微软雅黑"/>
              </a:rPr>
              <a:t>        </a:t>
            </a:r>
            <a:r>
              <a:rPr lang="zh-CN" sz="1600" b="0" strike="noStrike" spc="-1">
                <a:solidFill>
                  <a:srgbClr val="262626"/>
                </a:solidFill>
                <a:latin typeface="Times New Roman"/>
                <a:ea typeface="微软雅黑"/>
              </a:rPr>
              <a:t>通过存储过程实现自动化备份。动态生成带时间戳的唯一文件名，使用</a:t>
            </a:r>
            <a:r>
              <a:rPr lang="en-US" sz="1600" b="0" strike="noStrike" spc="-1">
                <a:solidFill>
                  <a:srgbClr val="262626"/>
                </a:solidFill>
                <a:latin typeface="Times New Roman"/>
                <a:ea typeface="微软雅黑"/>
              </a:rPr>
              <a:t>PREPARE</a:t>
            </a:r>
            <a:r>
              <a:rPr lang="zh-CN" sz="1600" b="0" strike="noStrike" spc="-1">
                <a:solidFill>
                  <a:srgbClr val="262626"/>
                </a:solidFill>
                <a:latin typeface="Times New Roman"/>
                <a:ea typeface="微软雅黑"/>
              </a:rPr>
              <a:t>执行</a:t>
            </a:r>
            <a:r>
              <a:rPr lang="en-US" sz="1600" b="0" strike="noStrike" spc="-1">
                <a:solidFill>
                  <a:srgbClr val="262626"/>
                </a:solidFill>
                <a:latin typeface="Times New Roman"/>
                <a:ea typeface="微软雅黑"/>
              </a:rPr>
              <a:t>mysqldump</a:t>
            </a:r>
            <a:r>
              <a:rPr lang="zh-CN" sz="1600" b="0" strike="noStrike" spc="-1">
                <a:solidFill>
                  <a:srgbClr val="262626"/>
                </a:solidFill>
                <a:latin typeface="Times New Roman"/>
                <a:ea typeface="微软雅黑"/>
              </a:rPr>
              <a:t>系统命令导出整个数据库。该设计将复杂备份操作封装为简单调用，确保备份标准化和版本管理清晰，便于后续恢复操作定位。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41" name="椭圆 27"/>
          <p:cNvSpPr/>
          <p:nvPr/>
        </p:nvSpPr>
        <p:spPr>
          <a:xfrm>
            <a:off x="901080" y="2112480"/>
            <a:ext cx="517680" cy="5176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2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2" name="圆角矩形 28"/>
          <p:cNvSpPr/>
          <p:nvPr/>
        </p:nvSpPr>
        <p:spPr>
          <a:xfrm>
            <a:off x="479039" y="3950640"/>
            <a:ext cx="11514719" cy="2282040"/>
          </a:xfrm>
          <a:prstGeom prst="roundRect">
            <a:avLst>
              <a:gd name="adj" fmla="val 9706"/>
            </a:avLst>
          </a:prstGeom>
          <a:solidFill>
            <a:schemeClr val="lt1">
              <a:lumMod val="100000"/>
              <a:alpha val="10000"/>
            </a:schemeClr>
          </a:solidFill>
          <a:ln w="63500">
            <a:solidFill>
              <a:srgbClr val="FCC54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  <p:txBody>
          <a:bodyPr lIns="1007640" tIns="0" rIns="179640" bIns="108000" anchor="ctr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zh-CN" sz="2000" b="1" strike="noStrike" spc="-1">
                <a:solidFill>
                  <a:srgbClr val="FCC540"/>
                </a:solidFill>
                <a:latin typeface="等线"/>
              </a:rPr>
              <a:t>表级备份</a:t>
            </a:r>
            <a:endParaRPr lang="en-US" sz="2000" b="1" strike="noStrike" spc="-1">
              <a:solidFill>
                <a:srgbClr val="FCC540"/>
              </a:solidFill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SET v_backup_file = CONCAT(p_table_name, '_backup_', DATE_FORMAT(NOW(), '%Y%m%d'), '.sql');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SET @cmd = CONCAT('mysqldump paper_sys ', p_table_name, ' &gt; "', v_backup_file, '"');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   </a:t>
            </a:r>
            <a:r>
              <a:rPr lang="zh-CN" altLang="en-US" sz="1400" b="0" strike="noStrike" spc="-1">
                <a:solidFill>
                  <a:srgbClr val="000000"/>
                </a:solidFill>
                <a:latin typeface="Times New Roman"/>
              </a:rPr>
              <a:t>      </a:t>
            </a:r>
            <a:r>
              <a:rPr lang="zh-CN" sz="1600" b="0" strike="noStrike" spc="-1">
                <a:solidFill>
                  <a:srgbClr val="000000"/>
                </a:solidFill>
                <a:latin typeface="Times New Roman"/>
              </a:rPr>
              <a:t>实现选择性备份功能，支持按表备份关键数据。生成规范化文件名，便于识别和管理。适用于只需备份部分重要表的场景，减少备份文件大小和存储开销。与全量备份结合，提供灵活的备份策略选择。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43" name="椭圆 29"/>
          <p:cNvSpPr/>
          <p:nvPr/>
        </p:nvSpPr>
        <p:spPr>
          <a:xfrm>
            <a:off x="901080" y="4792680"/>
            <a:ext cx="517680" cy="517680"/>
          </a:xfrm>
          <a:prstGeom prst="ellipse">
            <a:avLst/>
          </a:prstGeom>
          <a:solidFill>
            <a:srgbClr val="FCC54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2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矩形 14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6" name="矩形 15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347" name="组合 4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348" name="图片 6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49" name="矩形 7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350" name="组合 11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351" name="图片 12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52" name="矩形 13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353" name="图片 17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54" name="标题 1"/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4.</a:t>
            </a:r>
            <a:r>
              <a:rPr lang="zh-CN" sz="2800" b="1" u="sng" strike="noStrike" spc="-1">
                <a:solidFill>
                  <a:srgbClr val="00469A"/>
                </a:solidFill>
                <a:latin typeface="微软雅黑"/>
                <a:ea typeface="微软雅黑"/>
              </a:rPr>
              <a:t>备份</a:t>
            </a:r>
            <a:r>
              <a:rPr 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与恢复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355" name="矩形 1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7" name="矩形 38"/>
          <p:cNvSpPr/>
          <p:nvPr/>
        </p:nvSpPr>
        <p:spPr>
          <a:xfrm>
            <a:off x="1481091" y="1079640"/>
            <a:ext cx="8279280" cy="247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54160" dist="101314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sp>
        <p:nvSpPr>
          <p:cNvPr id="358" name="矩形 39"/>
          <p:cNvSpPr/>
          <p:nvPr/>
        </p:nvSpPr>
        <p:spPr>
          <a:xfrm>
            <a:off x="1481091" y="1247040"/>
            <a:ext cx="8490960" cy="289832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160" dist="101314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sp>
        <p:nvSpPr>
          <p:cNvPr id="359" name="矩形 40"/>
          <p:cNvSpPr/>
          <p:nvPr/>
        </p:nvSpPr>
        <p:spPr>
          <a:xfrm>
            <a:off x="2219949" y="1956060"/>
            <a:ext cx="10937880" cy="25090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CREATE TABLE db_backups (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    backup_id INT AUTO_INCREMENT PRIMARY KEY,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    backup_name VARCHAR(100),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    backup_time TIMESTAMP DEFAULT NOW()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);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INSERT INTO db_backups (backup_name) VALUES (p_backup_name);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    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360" name="矩形 41"/>
          <p:cNvSpPr/>
          <p:nvPr/>
        </p:nvSpPr>
        <p:spPr>
          <a:xfrm>
            <a:off x="1539411" y="1312380"/>
            <a:ext cx="4187160" cy="46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sz="2400" b="1" strike="noStrike" spc="-1">
                <a:solidFill>
                  <a:schemeClr val="accent1">
                    <a:lumMod val="75000"/>
                  </a:schemeClr>
                </a:solidFill>
                <a:latin typeface="Arial"/>
              </a:rPr>
              <a:t>备份记录表</a:t>
            </a:r>
            <a:endParaRPr lang="en-US" sz="2400" b="0" strike="noStrike" spc="-1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0DC6EC-03AF-B3EA-4C1B-17A83A99A6E7}"/>
              </a:ext>
            </a:extLst>
          </p:cNvPr>
          <p:cNvSpPr txBox="1"/>
          <p:nvPr/>
        </p:nvSpPr>
        <p:spPr>
          <a:xfrm>
            <a:off x="609840" y="4232121"/>
            <a:ext cx="10454190" cy="188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2000" b="0" strike="noStrike" spc="-1">
                <a:solidFill>
                  <a:srgbClr val="333333"/>
                </a:solidFill>
                <a:latin typeface="Times New Roman"/>
              </a:rPr>
              <a:t>设计专用表记录</a:t>
            </a:r>
            <a:r>
              <a:rPr lang="zh-CN" altLang="zh-CN" sz="2000" b="1" strike="noStrike" spc="-1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备份元数据</a:t>
            </a:r>
            <a:r>
              <a:rPr lang="zh-CN" altLang="zh-CN" sz="2000" b="0" strike="noStrike" spc="-1">
                <a:solidFill>
                  <a:srgbClr val="333333"/>
                </a:solidFill>
                <a:latin typeface="Times New Roman"/>
              </a:rPr>
              <a:t>，包含备份</a:t>
            </a:r>
            <a:r>
              <a:rPr lang="en-US" altLang="zh-CN" sz="2000" b="0" strike="noStrike" spc="-1">
                <a:solidFill>
                  <a:srgbClr val="333333"/>
                </a:solidFill>
                <a:latin typeface="Times New Roman"/>
              </a:rPr>
              <a:t>ID</a:t>
            </a:r>
            <a:r>
              <a:rPr lang="zh-CN" altLang="zh-CN" sz="2000" b="0" strike="noStrike" spc="-1">
                <a:solidFill>
                  <a:srgbClr val="333333"/>
                </a:solidFill>
                <a:latin typeface="Times New Roman"/>
              </a:rPr>
              <a:t>、名称和时间等字段。每次备份自动插入记录，形成完整操作日志。</a:t>
            </a:r>
            <a:endParaRPr lang="en-US" altLang="zh-CN" sz="2000" b="0" strike="noStrike" spc="-1">
              <a:solidFill>
                <a:srgbClr val="333333"/>
              </a:solidFill>
              <a:latin typeface="Times New Roman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2000" spc="-1">
              <a:solidFill>
                <a:srgbClr val="333333"/>
              </a:solidFill>
              <a:latin typeface="Times New Roman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2000" b="0" strike="noStrike" spc="-1">
                <a:solidFill>
                  <a:srgbClr val="333333"/>
                </a:solidFill>
                <a:latin typeface="Times New Roman"/>
              </a:rPr>
              <a:t>管理员可查询</a:t>
            </a:r>
            <a:r>
              <a:rPr lang="zh-CN" altLang="zh-CN" sz="2000" b="1" strike="noStrike" spc="-1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历史备份信息</a:t>
            </a:r>
            <a:r>
              <a:rPr lang="zh-CN" altLang="zh-CN" sz="2000" b="0" strike="noStrike" spc="-1">
                <a:solidFill>
                  <a:srgbClr val="333333"/>
                </a:solidFill>
                <a:latin typeface="Times New Roman"/>
              </a:rPr>
              <a:t>，追踪备份状态和成功率，为数据恢复提供决策依据。</a:t>
            </a:r>
            <a:endParaRPr lang="zh-CN" altLang="en-US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矩形 14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3" name="矩形 15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364" name="组合 4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365" name="图片 6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66" name="矩形 7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367" name="组合 11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368" name="图片 12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69" name="矩形 13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370" name="图片 17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71" name="标题 1"/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4.</a:t>
            </a:r>
            <a:r>
              <a:rPr 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备份与</a:t>
            </a:r>
            <a:r>
              <a:rPr lang="zh-CN" sz="2800" b="1" u="sng" strike="noStrike" spc="-1">
                <a:solidFill>
                  <a:srgbClr val="00469A"/>
                </a:solidFill>
                <a:latin typeface="微软雅黑"/>
                <a:ea typeface="微软雅黑"/>
              </a:rPr>
              <a:t>恢复</a:t>
            </a:r>
            <a:r>
              <a:rPr lang="zh-CN" altLang="en-US" sz="2800" b="1" u="sng" strike="noStrike" spc="-1">
                <a:solidFill>
                  <a:srgbClr val="00469A"/>
                </a:solidFill>
                <a:latin typeface="微软雅黑"/>
                <a:ea typeface="微软雅黑"/>
              </a:rPr>
              <a:t>（用户操作接口）</a:t>
            </a:r>
            <a:endParaRPr lang="en-US" sz="2800" b="0" u="sng" strike="noStrike" spc="-1">
              <a:latin typeface="Arial"/>
            </a:endParaRPr>
          </a:p>
        </p:txBody>
      </p:sp>
      <p:sp>
        <p:nvSpPr>
          <p:cNvPr id="372" name="矩形 1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74" name="圆角矩形 3"/>
          <p:cNvSpPr/>
          <p:nvPr/>
        </p:nvSpPr>
        <p:spPr>
          <a:xfrm>
            <a:off x="6282360" y="1643760"/>
            <a:ext cx="5182560" cy="4246560"/>
          </a:xfrm>
          <a:custGeom>
            <a:avLst/>
            <a:gdLst/>
            <a:ahLst/>
            <a:cxnLst/>
            <a:rect l="l" t="t" r="r" b="b"/>
            <a:pathLst>
              <a:path w="8162" h="6688">
                <a:moveTo>
                  <a:pt x="7955" y="0"/>
                </a:moveTo>
                <a:lnTo>
                  <a:pt x="7963" y="4"/>
                </a:lnTo>
                <a:cubicBezTo>
                  <a:pt x="8081" y="60"/>
                  <a:pt x="8162" y="181"/>
                  <a:pt x="8162" y="320"/>
                </a:cubicBezTo>
                <a:lnTo>
                  <a:pt x="8162" y="6337"/>
                </a:lnTo>
                <a:cubicBezTo>
                  <a:pt x="8162" y="6531"/>
                  <a:pt x="8005" y="6688"/>
                  <a:pt x="7811" y="6688"/>
                </a:cubicBezTo>
                <a:lnTo>
                  <a:pt x="307" y="6688"/>
                </a:lnTo>
                <a:cubicBezTo>
                  <a:pt x="180" y="6688"/>
                  <a:pt x="68" y="6620"/>
                  <a:pt x="7" y="6519"/>
                </a:cubicBezTo>
                <a:lnTo>
                  <a:pt x="0" y="6507"/>
                </a:lnTo>
                <a:lnTo>
                  <a:pt x="7" y="6511"/>
                </a:lnTo>
                <a:cubicBezTo>
                  <a:pt x="49" y="6528"/>
                  <a:pt x="96" y="6538"/>
                  <a:pt x="144" y="6538"/>
                </a:cubicBezTo>
                <a:lnTo>
                  <a:pt x="7648" y="6538"/>
                </a:lnTo>
                <a:cubicBezTo>
                  <a:pt x="7842" y="6538"/>
                  <a:pt x="7999" y="6381"/>
                  <a:pt x="7999" y="6187"/>
                </a:cubicBezTo>
                <a:lnTo>
                  <a:pt x="7999" y="170"/>
                </a:lnTo>
                <a:cubicBezTo>
                  <a:pt x="7999" y="110"/>
                  <a:pt x="7984" y="53"/>
                  <a:pt x="7957" y="3"/>
                </a:cubicBezTo>
                <a:lnTo>
                  <a:pt x="79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75" name="圆角矩形 16"/>
          <p:cNvSpPr/>
          <p:nvPr/>
        </p:nvSpPr>
        <p:spPr>
          <a:xfrm>
            <a:off x="827640" y="5015520"/>
            <a:ext cx="589680" cy="592560"/>
          </a:xfrm>
          <a:prstGeom prst="roundRect">
            <a:avLst>
              <a:gd name="adj" fmla="val 2376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01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76" name="圆角矩形 16"/>
          <p:cNvSpPr/>
          <p:nvPr/>
        </p:nvSpPr>
        <p:spPr>
          <a:xfrm>
            <a:off x="6364800" y="5015520"/>
            <a:ext cx="589680" cy="592560"/>
          </a:xfrm>
          <a:prstGeom prst="roundRect">
            <a:avLst>
              <a:gd name="adj" fmla="val 2376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02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77" name="矩形 19"/>
          <p:cNvSpPr/>
          <p:nvPr/>
        </p:nvSpPr>
        <p:spPr>
          <a:xfrm>
            <a:off x="639720" y="1325520"/>
            <a:ext cx="5146920" cy="247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54160" dist="101314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sp>
        <p:nvSpPr>
          <p:cNvPr id="378" name="矩形 20"/>
          <p:cNvSpPr/>
          <p:nvPr/>
        </p:nvSpPr>
        <p:spPr>
          <a:xfrm>
            <a:off x="639720" y="1634760"/>
            <a:ext cx="5146920" cy="4623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160" dist="101314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sp>
        <p:nvSpPr>
          <p:cNvPr id="379" name="矩形 21"/>
          <p:cNvSpPr/>
          <p:nvPr/>
        </p:nvSpPr>
        <p:spPr>
          <a:xfrm>
            <a:off x="996840" y="2130265"/>
            <a:ext cx="4186800" cy="32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def full_backup(backup_name):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    timestamp = datetime.now().strftime('%Y%m%d')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    cmd = f'mysqldump paper_sys &gt; backup_{timestamp}.sql'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    os.system(cmd)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    cursor.execute("INSERT INTO db_backups VALUES (%s)", (backup_name,))</a:t>
            </a:r>
          </a:p>
          <a:p>
            <a:pPr>
              <a:lnSpc>
                <a:spcPct val="150000"/>
              </a:lnSpc>
              <a:buNone/>
            </a:pPr>
            <a:endParaRPr lang="en-US" sz="8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Python</a:t>
            </a:r>
            <a:r>
              <a:rPr lang="zh-CN" sz="1600" b="0" strike="noStrike" spc="-1">
                <a:solidFill>
                  <a:srgbClr val="333333"/>
                </a:solidFill>
                <a:latin typeface="Times New Roman"/>
              </a:rPr>
              <a:t>函数封装备份逻辑，简化命令行操作。自动生成时间戳文件名，调用系统命令执行备份，并记录到数据库。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80" name="矩形 22"/>
          <p:cNvSpPr/>
          <p:nvPr/>
        </p:nvSpPr>
        <p:spPr>
          <a:xfrm>
            <a:off x="995919" y="1586667"/>
            <a:ext cx="4187160" cy="46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4472C4"/>
                </a:solidFill>
                <a:latin typeface="Arial"/>
              </a:rPr>
              <a:t>Python</a:t>
            </a:r>
            <a:r>
              <a:rPr lang="zh-CN" sz="2400" b="1" strike="noStrike" spc="-1">
                <a:solidFill>
                  <a:srgbClr val="4472C4"/>
                </a:solidFill>
                <a:latin typeface="Arial"/>
              </a:rPr>
              <a:t>工具封装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381" name="矩形 23"/>
          <p:cNvSpPr/>
          <p:nvPr/>
        </p:nvSpPr>
        <p:spPr>
          <a:xfrm>
            <a:off x="6292440" y="1336320"/>
            <a:ext cx="5146920" cy="24732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54160" dist="101314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sp>
        <p:nvSpPr>
          <p:cNvPr id="382" name="矩形 24"/>
          <p:cNvSpPr/>
          <p:nvPr/>
        </p:nvSpPr>
        <p:spPr>
          <a:xfrm>
            <a:off x="6292440" y="1645560"/>
            <a:ext cx="5146920" cy="4623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160" dist="101314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sp>
        <p:nvSpPr>
          <p:cNvPr id="383" name="矩形 25"/>
          <p:cNvSpPr/>
          <p:nvPr/>
        </p:nvSpPr>
        <p:spPr>
          <a:xfrm>
            <a:off x="6772680" y="2396520"/>
            <a:ext cx="4187160" cy="348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def full_restore(backup_file):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    cmd = f'mysql paper_sys &lt; "{backup_file}"'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    os.system(cmd)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    print("</a:t>
            </a:r>
            <a:r>
              <a:rPr lang="zh-CN" sz="1600" b="0" strike="noStrike" spc="-1">
                <a:solidFill>
                  <a:srgbClr val="333333"/>
                </a:solidFill>
                <a:latin typeface="Times New Roman"/>
              </a:rPr>
              <a:t>恢复完成</a:t>
            </a: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")</a:t>
            </a:r>
          </a:p>
          <a:p>
            <a:pPr>
              <a:lnSpc>
                <a:spcPct val="150000"/>
              </a:lnSpc>
              <a:buNone/>
            </a:pPr>
            <a:endParaRPr lang="en-US" sz="16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zh-CN" sz="1600" b="0" strike="noStrike" spc="-1">
                <a:solidFill>
                  <a:srgbClr val="333333"/>
                </a:solidFill>
                <a:latin typeface="Times New Roman"/>
              </a:rPr>
              <a:t>提供对应的恢复功能，通过</a:t>
            </a:r>
            <a:r>
              <a:rPr lang="en-US" sz="1600" b="0" strike="noStrike" spc="-1">
                <a:solidFill>
                  <a:srgbClr val="333333"/>
                </a:solidFill>
                <a:latin typeface="Times New Roman"/>
              </a:rPr>
              <a:t>mysql</a:t>
            </a:r>
            <a:r>
              <a:rPr lang="zh-CN" sz="1600" b="0" strike="noStrike" spc="-1">
                <a:solidFill>
                  <a:srgbClr val="333333"/>
                </a:solidFill>
                <a:latin typeface="Times New Roman"/>
              </a:rPr>
              <a:t>命令从备份文件恢复数据库。支持快速数据恢复，最小化系统宕机时间。与备份功能配合，形成完整的备份恢复闭环，确保系统数据安全可靠。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384" name="矩形 26"/>
          <p:cNvSpPr/>
          <p:nvPr/>
        </p:nvSpPr>
        <p:spPr>
          <a:xfrm>
            <a:off x="6694380" y="1638236"/>
            <a:ext cx="4187160" cy="46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sz="2400" b="1" strike="noStrike" spc="-1">
                <a:solidFill>
                  <a:srgbClr val="ED7D31"/>
                </a:solidFill>
                <a:latin typeface="Arial"/>
              </a:rPr>
              <a:t>恢复功能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矩形 14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87" name="矩形 15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388" name="组合 4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389" name="图片 6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90" name="矩形 7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391" name="组合 11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392" name="图片 12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93" name="矩形 13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394" name="图片 17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95" name="标题 1"/>
          <p:cNvSpPr/>
          <p:nvPr/>
        </p:nvSpPr>
        <p:spPr>
          <a:xfrm>
            <a:off x="801360" y="17280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5. </a:t>
            </a:r>
            <a:r>
              <a:rPr 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并发控制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396" name="矩形 1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8" name="圆角矩形 3"/>
          <p:cNvSpPr/>
          <p:nvPr/>
        </p:nvSpPr>
        <p:spPr>
          <a:xfrm>
            <a:off x="185399" y="1721856"/>
            <a:ext cx="6547909" cy="4830144"/>
          </a:xfrm>
          <a:prstGeom prst="roundRect">
            <a:avLst>
              <a:gd name="adj" fmla="val 5223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vertOverflow="overflow" horzOverflow="overflow" lIns="324000" tIns="324000" rIns="324000" bIns="698400" numCol="1" spcCol="0" anchor="t">
            <a:noAutofit/>
          </a:bodyPr>
          <a:lstStyle/>
          <a:p>
            <a:pPr algn="just">
              <a:lnSpc>
                <a:spcPct val="140000"/>
              </a:lnSpc>
              <a:buNone/>
            </a:pPr>
            <a:r>
              <a:rPr lang="en-US" sz="14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sz="14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添加版本字段</a:t>
            </a:r>
            <a:endParaRPr lang="en-US" sz="14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ALTER TABLE users ADD COLUMN IF NOT EXISTS version INT DEFAULT 1;</a:t>
            </a: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ALTER TABLE papers ADD COLUMN IF NOT EXISTS version INT DEFAULT 1;</a:t>
            </a: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4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sz="14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乐观锁更新逻辑</a:t>
            </a:r>
            <a:endParaRPr lang="en-US" sz="14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UPDATE users</a:t>
            </a: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SET real_name = p_real_name, version = version + 1</a:t>
            </a: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WHERE user_id = p_user_id AND version = p_current_version;</a:t>
            </a: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IF ROW_COUNT() = 1 THEN</a:t>
            </a: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  SET p_result = 'SUCCESS';</a:t>
            </a: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ELSE</a:t>
            </a: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  SET p_result = 'CONCURRENT_UPDATE_ERROR';</a:t>
            </a: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END IF;</a:t>
            </a: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</a:p>
          <a:p>
            <a:pPr algn="just">
              <a:lnSpc>
                <a:spcPct val="140000"/>
              </a:lnSpc>
              <a:buNone/>
            </a:pPr>
            <a:r>
              <a:rPr lang="zh-CN" sz="16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为关键表添加版本号字段实现</a:t>
            </a:r>
            <a:r>
              <a:rPr lang="zh-CN" sz="1600" b="1" strike="noStrike" spc="-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乐观锁机制</a:t>
            </a:r>
            <a:r>
              <a:rPr lang="zh-CN" sz="16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。更新时检查当前版本是否匹配，匹配则更新成功并递增版本号，否则返回并发错误。适用于读多写少的学术场景，避免数据覆盖，减少锁竞争开销。</a:t>
            </a:r>
            <a:endParaRPr lang="en-US" sz="16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" name="圆角矩形 3"/>
          <p:cNvSpPr/>
          <p:nvPr/>
        </p:nvSpPr>
        <p:spPr>
          <a:xfrm>
            <a:off x="7010881" y="1721855"/>
            <a:ext cx="4995720" cy="4631443"/>
          </a:xfrm>
          <a:prstGeom prst="roundRect">
            <a:avLst>
              <a:gd name="adj" fmla="val 5223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vertOverflow="overflow" horzOverflow="overflow" lIns="324000" tIns="324000" rIns="324000" bIns="698400" numCol="1" spcCol="0" anchor="t">
            <a:noAutofit/>
          </a:bodyPr>
          <a:lstStyle/>
          <a:p>
            <a:pPr algn="just">
              <a:lnSpc>
                <a:spcPct val="140000"/>
              </a:lnSpc>
              <a:buNone/>
            </a:pPr>
            <a:r>
              <a:rPr lang="en-US" sz="14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sz="14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事务锁定记录</a:t>
            </a:r>
            <a:endParaRPr lang="en-US" sz="14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START TRANSACTION;</a:t>
            </a: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SELECT * FROM users WHERE user_id = p_user_id FOR UPDATE;</a:t>
            </a: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4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sz="14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执行更新操作</a:t>
            </a:r>
            <a:endParaRPr lang="en-US" sz="14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UPDATE users SET real_name = p_real_name WHERE user_id = p_user_id;</a:t>
            </a: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COMMIT;</a:t>
            </a:r>
            <a:endParaRPr lang="en-US" sz="12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en-US" sz="12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</a:p>
          <a:p>
            <a:pPr algn="just">
              <a:lnSpc>
                <a:spcPct val="140000"/>
              </a:lnSpc>
              <a:buNone/>
            </a:pPr>
            <a:r>
              <a:rPr lang="zh-CN" sz="16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sz="16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SELECT ... FOR UPDATE</a:t>
            </a:r>
            <a:r>
              <a:rPr lang="zh-CN" sz="16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在事务中显式锁定记录，确保独占更新权限。适用于关键数据如用户权限修改、论文状态更新等需要强一致性的操作。锁定期间其他事务无法修改相同记录，</a:t>
            </a:r>
            <a:r>
              <a:rPr lang="zh-CN" sz="1600" b="1" strike="noStrike" spc="-1">
                <a:solidFill>
                  <a:srgbClr val="FCC54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避免并发冲突</a:t>
            </a:r>
            <a:r>
              <a:rPr lang="zh-CN" sz="1600" b="0" strike="noStrike" spc="-1">
                <a:solidFill>
                  <a:srgbClr val="262626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sz="1600" b="0" strike="noStrike" spc="-1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9BF07A-8D87-869A-73FC-ED0E30CBB60A}"/>
              </a:ext>
            </a:extLst>
          </p:cNvPr>
          <p:cNvSpPr txBox="1"/>
          <p:nvPr/>
        </p:nvSpPr>
        <p:spPr>
          <a:xfrm>
            <a:off x="2177050" y="1150977"/>
            <a:ext cx="1465614" cy="47647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  <a:buNone/>
            </a:pPr>
            <a:r>
              <a:rPr lang="zh-CN" altLang="zh-CN" sz="2000" b="0" strike="noStrike" spc="-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乐观锁设计</a:t>
            </a:r>
            <a:endParaRPr lang="en-US" altLang="zh-CN" sz="2000" b="0" strike="noStrike" spc="-1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B4A27F-062B-87F2-E84C-F68A40C53547}"/>
              </a:ext>
            </a:extLst>
          </p:cNvPr>
          <p:cNvSpPr txBox="1"/>
          <p:nvPr/>
        </p:nvSpPr>
        <p:spPr>
          <a:xfrm>
            <a:off x="8763093" y="1166669"/>
            <a:ext cx="1465613" cy="475964"/>
          </a:xfrm>
          <a:prstGeom prst="rect">
            <a:avLst/>
          </a:prstGeom>
          <a:solidFill>
            <a:srgbClr val="FCC540"/>
          </a:solidFill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  <a:buNone/>
            </a:pPr>
            <a:r>
              <a:rPr lang="zh-CN" altLang="zh-CN" sz="2000" b="0" strike="noStrike" spc="-1">
                <a:solidFill>
                  <a:schemeClr val="bg1"/>
                </a:solidFill>
                <a:latin typeface="Arial"/>
              </a:rPr>
              <a:t>悲观锁实现</a:t>
            </a:r>
            <a:endParaRPr lang="en-US" altLang="zh-CN" sz="2000" b="0" strike="noStrike" spc="-1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矩形 64"/>
          <p:cNvSpPr/>
          <p:nvPr/>
        </p:nvSpPr>
        <p:spPr>
          <a:xfrm>
            <a:off x="-1800" y="-43920"/>
            <a:ext cx="12191760" cy="6901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5" name="矩形 56"/>
          <p:cNvSpPr/>
          <p:nvPr/>
        </p:nvSpPr>
        <p:spPr>
          <a:xfrm>
            <a:off x="-3600" y="1636560"/>
            <a:ext cx="12195360" cy="3584160"/>
          </a:xfrm>
          <a:prstGeom prst="rect">
            <a:avLst/>
          </a:prstGeom>
          <a:solidFill>
            <a:srgbClr val="0F4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6" name="矩形 81"/>
          <p:cNvSpPr/>
          <p:nvPr/>
        </p:nvSpPr>
        <p:spPr>
          <a:xfrm>
            <a:off x="1279440" y="1055520"/>
            <a:ext cx="9629280" cy="4746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360">
              <a:srgbClr val="A5A5A5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7" name="椭圆 11"/>
          <p:cNvSpPr/>
          <p:nvPr/>
        </p:nvSpPr>
        <p:spPr>
          <a:xfrm>
            <a:off x="5454720" y="1661040"/>
            <a:ext cx="1283040" cy="1283040"/>
          </a:xfrm>
          <a:prstGeom prst="ellipse">
            <a:avLst/>
          </a:prstGeom>
          <a:solidFill>
            <a:srgbClr val="2D5F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8" name="文本框 12"/>
          <p:cNvSpPr/>
          <p:nvPr/>
        </p:nvSpPr>
        <p:spPr>
          <a:xfrm>
            <a:off x="5501880" y="1667880"/>
            <a:ext cx="1188360" cy="115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7000" b="0" strike="noStrike" spc="-1">
                <a:solidFill>
                  <a:srgbClr val="FFFFFF"/>
                </a:solidFill>
                <a:latin typeface="Times New Roman"/>
              </a:rPr>
              <a:t>4</a:t>
            </a:r>
            <a:endParaRPr lang="en-US" sz="7000" b="0" strike="noStrike" spc="-1">
              <a:latin typeface="Arial"/>
            </a:endParaRPr>
          </a:p>
        </p:txBody>
      </p:sp>
      <p:sp>
        <p:nvSpPr>
          <p:cNvPr id="419" name="文本框 1"/>
          <p:cNvSpPr/>
          <p:nvPr/>
        </p:nvSpPr>
        <p:spPr>
          <a:xfrm>
            <a:off x="1277640" y="3429000"/>
            <a:ext cx="9631080" cy="10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sz="6000" b="1" strike="noStrike" spc="-1">
                <a:solidFill>
                  <a:srgbClr val="0053A3"/>
                </a:solidFill>
                <a:latin typeface="Times New Roman"/>
                <a:ea typeface="微软雅黑"/>
              </a:rPr>
              <a:t>项目分工与总结</a:t>
            </a:r>
            <a:endParaRPr lang="en-US" sz="6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矩形 6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1" name="矩形 11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22" name="组合 3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423" name="图片 4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24" name="矩形 12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425" name="组合 5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426" name="图片 7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27" name="矩形 17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428" name="图片 8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29" name="标题 3"/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项目分工（</a:t>
            </a:r>
            <a:r>
              <a:rPr lang="en-US" alt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Equal</a:t>
            </a:r>
            <a:r>
              <a:rPr lang="zh-CN" alt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 </a:t>
            </a:r>
            <a:r>
              <a:rPr lang="en-US" altLang="zh-CN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Controbution</a:t>
            </a:r>
            <a:r>
              <a:rPr lang="zh-CN" alt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）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430" name="矩形 18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1" name="文本框 4"/>
          <p:cNvSpPr/>
          <p:nvPr/>
        </p:nvSpPr>
        <p:spPr>
          <a:xfrm>
            <a:off x="454500" y="1421528"/>
            <a:ext cx="11663640" cy="4519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人工智能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2301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：负责实现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SearchView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的前后端逻辑、完成了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3000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条论文数据的爬虫工作和大作业报告的撰写，详细记录了项目的开发过程和技术细节。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人工智能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2301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：关注于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SettingView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HomeView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的前后端逻辑实现，并负责将代码合并到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仓库中。此外，还负责汇报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PPT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的第一部分，介绍了项目的背景、目标及整体架构。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人工智能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2301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：专注于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角色中的控制台和概览页面（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zh-CN" altLang="en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的前后端逻辑设计。此外，还负责了汇报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PPT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的第三部分。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人工智能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2301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（组长）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：承担了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college_admin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角色中控制台和概览页面的前后端逻辑开发和登录界面（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LoginView</a:t>
            </a:r>
            <a:r>
              <a:rPr lang="zh-CN" altLang="en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的前后端逻辑。此外，还制作了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PPT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的第二部分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----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数据库设计的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图。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人工智能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2301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：负责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university_admin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角色中控制台和概览页面的设计和汇报</a:t>
            </a:r>
            <a:r>
              <a:rPr lang="e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PPT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的第三部分内容的准备。</a:t>
            </a:r>
            <a:endParaRPr lang="en-US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EF2CF-84C9-35FD-E2B3-9FC2E6CD8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矩形 6">
            <a:extLst>
              <a:ext uri="{FF2B5EF4-FFF2-40B4-BE49-F238E27FC236}">
                <a16:creationId xmlns:a16="http://schemas.microsoft.com/office/drawing/2014/main" id="{54A1D803-E2AD-4319-8A61-C6059C6059B9}"/>
              </a:ext>
            </a:extLst>
          </p:cNvPr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1" name="矩形 11">
            <a:extLst>
              <a:ext uri="{FF2B5EF4-FFF2-40B4-BE49-F238E27FC236}">
                <a16:creationId xmlns:a16="http://schemas.microsoft.com/office/drawing/2014/main" id="{85F8D059-910A-8878-D21A-5E4470893B72}"/>
              </a:ext>
            </a:extLst>
          </p:cNvPr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22" name="组合 3">
            <a:extLst>
              <a:ext uri="{FF2B5EF4-FFF2-40B4-BE49-F238E27FC236}">
                <a16:creationId xmlns:a16="http://schemas.microsoft.com/office/drawing/2014/main" id="{C9AD2A9A-95C1-CCE4-CF91-ED02FD75CEC8}"/>
              </a:ext>
            </a:extLst>
          </p:cNvPr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423" name="图片 4">
              <a:extLst>
                <a:ext uri="{FF2B5EF4-FFF2-40B4-BE49-F238E27FC236}">
                  <a16:creationId xmlns:a16="http://schemas.microsoft.com/office/drawing/2014/main" id="{9C898850-3BA9-E3FB-C885-02E0BC76C8CE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24" name="矩形 12">
              <a:extLst>
                <a:ext uri="{FF2B5EF4-FFF2-40B4-BE49-F238E27FC236}">
                  <a16:creationId xmlns:a16="http://schemas.microsoft.com/office/drawing/2014/main" id="{71C56407-75A4-2DE4-1944-56DED2C30360}"/>
                </a:ext>
              </a:extLst>
            </p:cNvPr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425" name="组合 5">
            <a:extLst>
              <a:ext uri="{FF2B5EF4-FFF2-40B4-BE49-F238E27FC236}">
                <a16:creationId xmlns:a16="http://schemas.microsoft.com/office/drawing/2014/main" id="{4D5BF432-2471-C7AB-58F0-01CBE348677C}"/>
              </a:ext>
            </a:extLst>
          </p:cNvPr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426" name="图片 7">
              <a:extLst>
                <a:ext uri="{FF2B5EF4-FFF2-40B4-BE49-F238E27FC236}">
                  <a16:creationId xmlns:a16="http://schemas.microsoft.com/office/drawing/2014/main" id="{3F27CA42-B141-0109-9968-E9A666AC32F2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27" name="矩形 17">
              <a:extLst>
                <a:ext uri="{FF2B5EF4-FFF2-40B4-BE49-F238E27FC236}">
                  <a16:creationId xmlns:a16="http://schemas.microsoft.com/office/drawing/2014/main" id="{8B86575D-9DD1-C342-9282-DFDB45E99722}"/>
                </a:ext>
              </a:extLst>
            </p:cNvPr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428" name="图片 8">
              <a:extLst>
                <a:ext uri="{FF2B5EF4-FFF2-40B4-BE49-F238E27FC236}">
                  <a16:creationId xmlns:a16="http://schemas.microsoft.com/office/drawing/2014/main" id="{E22E5E37-0557-76EA-8D12-727CEE8016DD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29" name="标题 3">
            <a:extLst>
              <a:ext uri="{FF2B5EF4-FFF2-40B4-BE49-F238E27FC236}">
                <a16:creationId xmlns:a16="http://schemas.microsoft.com/office/drawing/2014/main" id="{29C99F26-0316-DA8C-3F75-AE14C1126D50}"/>
              </a:ext>
            </a:extLst>
          </p:cNvPr>
          <p:cNvSpPr/>
          <p:nvPr/>
        </p:nvSpPr>
        <p:spPr>
          <a:xfrm>
            <a:off x="777960" y="173520"/>
            <a:ext cx="10466280" cy="7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en-US" sz="2800" b="1" strike="noStrike" spc="-1">
                <a:solidFill>
                  <a:srgbClr val="00469A"/>
                </a:solidFill>
                <a:latin typeface="微软雅黑"/>
                <a:ea typeface="微软雅黑"/>
              </a:rPr>
              <a:t>项目总结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430" name="矩形 18">
            <a:extLst>
              <a:ext uri="{FF2B5EF4-FFF2-40B4-BE49-F238E27FC236}">
                <a16:creationId xmlns:a16="http://schemas.microsoft.com/office/drawing/2014/main" id="{D3303C32-D156-56E7-B22C-9558517DC755}"/>
              </a:ext>
            </a:extLst>
          </p:cNvPr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1" name="文本框 4">
            <a:extLst>
              <a:ext uri="{FF2B5EF4-FFF2-40B4-BE49-F238E27FC236}">
                <a16:creationId xmlns:a16="http://schemas.microsoft.com/office/drawing/2014/main" id="{C199BBF1-181E-3DF2-9D8B-47635F84B217}"/>
              </a:ext>
            </a:extLst>
          </p:cNvPr>
          <p:cNvSpPr/>
          <p:nvPr/>
        </p:nvSpPr>
        <p:spPr>
          <a:xfrm>
            <a:off x="469980" y="1195230"/>
            <a:ext cx="11663640" cy="53963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/>
              <a:t>本项目通过团队成员的共同努力，成功实现了一个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综合性的论文管理系统</a:t>
            </a:r>
            <a:r>
              <a:rPr lang="zh-CN" altLang="en-US"/>
              <a:t>。在用户界面设计方面，我们精心打造了包括</a:t>
            </a:r>
            <a:r>
              <a:rPr lang="en" altLang="zh-CN"/>
              <a:t>searchview</a:t>
            </a:r>
            <a:r>
              <a:rPr lang="zh-CN" altLang="en"/>
              <a:t>、</a:t>
            </a:r>
            <a:r>
              <a:rPr lang="en" altLang="zh-CN"/>
              <a:t>settingview</a:t>
            </a:r>
            <a:r>
              <a:rPr lang="zh-CN" altLang="en"/>
              <a:t>、</a:t>
            </a:r>
            <a:r>
              <a:rPr lang="en" altLang="zh-CN"/>
              <a:t>HomeView</a:t>
            </a:r>
            <a:r>
              <a:rPr lang="zh-CN" altLang="en-US"/>
              <a:t>在内的多个视图，提供了良好的用户体验。此外，为了满足不同角色（如学生、学院管理员、大学管理员）的需求，我们分别实现了各自角色特有的控制台和概览页面逻辑，进一步增强了系统的功能性和实用性。</a:t>
            </a:r>
            <a:endParaRPr lang="en-US" altLang="zh-CN"/>
          </a:p>
          <a:p>
            <a:pPr>
              <a:lnSpc>
                <a:spcPct val="150000"/>
              </a:lnSpc>
            </a:pPr>
            <a:endParaRPr lang="zh-CN" altLang="en-US" sz="80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/>
              <a:t>技术上，我们不仅关注了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前端与后端的交互逻辑</a:t>
            </a:r>
            <a:r>
              <a:rPr lang="zh-CN" altLang="en-US"/>
              <a:t>，还特别注意了系统的安全性和稳定性，比如引入了备份等机制。与此同时，我们也注重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代码管理</a:t>
            </a:r>
            <a:r>
              <a:rPr lang="zh-CN" altLang="en-US"/>
              <a:t>，通过</a:t>
            </a:r>
            <a:r>
              <a:rPr lang="en" altLang="zh-CN"/>
              <a:t>GitHub</a:t>
            </a:r>
            <a:r>
              <a:rPr lang="zh-CN" altLang="en-US"/>
              <a:t>进行项目合并和版本控制，保证了项目的顺利推进和团队协作的高效性。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80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/>
              <a:t>最后，通过此次项目的实践，我们不仅提高了自己的专业技术水平，更加深了对团队合作的理解。每一位成员都在各自的领域内发挥了重要作用，并且通过有效的沟通和协调，克服了遇到的各种挑战。总的来说，这个项目不仅是对我们所学知识的一次全面检验，更是我们未来职业发展道路上的一个重要里程碑。我们期待在未来的工作中，能够继续运用这些经验和技能，创造更多的价值。</a:t>
            </a:r>
            <a:br>
              <a:rPr lang="zh-CN" altLang="en-US"/>
            </a:br>
            <a:endParaRPr lang="en-US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22856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矩形 14"/>
          <p:cNvSpPr/>
          <p:nvPr/>
        </p:nvSpPr>
        <p:spPr>
          <a:xfrm>
            <a:off x="371520" y="566280"/>
            <a:ext cx="183960" cy="349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4" name="矩形 15"/>
          <p:cNvSpPr/>
          <p:nvPr/>
        </p:nvSpPr>
        <p:spPr>
          <a:xfrm>
            <a:off x="185760" y="231480"/>
            <a:ext cx="165600" cy="29124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5" name="矩形 16"/>
          <p:cNvSpPr/>
          <p:nvPr/>
        </p:nvSpPr>
        <p:spPr>
          <a:xfrm>
            <a:off x="609840" y="916560"/>
            <a:ext cx="11383920" cy="86760"/>
          </a:xfrm>
          <a:prstGeom prst="rect">
            <a:avLst/>
          </a:prstGeom>
          <a:solidFill>
            <a:srgbClr val="0053A3"/>
          </a:solidFill>
          <a:ln>
            <a:solidFill>
              <a:srgbClr val="005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36" name="组合 4"/>
          <p:cNvGrpSpPr/>
          <p:nvPr/>
        </p:nvGrpSpPr>
        <p:grpSpPr>
          <a:xfrm>
            <a:off x="0" y="6591600"/>
            <a:ext cx="12191760" cy="323640"/>
            <a:chOff x="0" y="6591600"/>
            <a:chExt cx="12191760" cy="323640"/>
          </a:xfrm>
        </p:grpSpPr>
        <p:pic>
          <p:nvPicPr>
            <p:cNvPr id="437" name="图片 6"/>
            <p:cNvPicPr/>
            <p:nvPr/>
          </p:nvPicPr>
          <p:blipFill>
            <a:blip r:embed="rId2"/>
            <a:stretch/>
          </p:blipFill>
          <p:spPr>
            <a:xfrm>
              <a:off x="0" y="6591600"/>
              <a:ext cx="12191760" cy="323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38" name="矩形 7"/>
            <p:cNvSpPr/>
            <p:nvPr/>
          </p:nvSpPr>
          <p:spPr>
            <a:xfrm>
              <a:off x="0" y="6591600"/>
              <a:ext cx="231552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</p:sp>
      </p:grpSp>
      <p:grpSp>
        <p:nvGrpSpPr>
          <p:cNvPr id="439" name="组合 11"/>
          <p:cNvGrpSpPr/>
          <p:nvPr/>
        </p:nvGrpSpPr>
        <p:grpSpPr>
          <a:xfrm>
            <a:off x="185760" y="6591600"/>
            <a:ext cx="1571400" cy="323640"/>
            <a:chOff x="185760" y="6591600"/>
            <a:chExt cx="1571400" cy="323640"/>
          </a:xfrm>
        </p:grpSpPr>
        <p:pic>
          <p:nvPicPr>
            <p:cNvPr id="440" name="图片 12"/>
            <p:cNvPicPr/>
            <p:nvPr/>
          </p:nvPicPr>
          <p:blipFill>
            <a:blip r:embed="rId3"/>
            <a:stretch/>
          </p:blipFill>
          <p:spPr>
            <a:xfrm>
              <a:off x="348840" y="6625080"/>
              <a:ext cx="1408320" cy="272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41" name="矩形 13"/>
            <p:cNvSpPr/>
            <p:nvPr/>
          </p:nvSpPr>
          <p:spPr>
            <a:xfrm>
              <a:off x="185760" y="6591600"/>
              <a:ext cx="453960" cy="323640"/>
            </a:xfrm>
            <a:prstGeom prst="rect">
              <a:avLst/>
            </a:prstGeom>
            <a:solidFill>
              <a:srgbClr val="FB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442" name="图片 17"/>
            <p:cNvPicPr/>
            <p:nvPr/>
          </p:nvPicPr>
          <p:blipFill>
            <a:blip r:embed="rId4"/>
            <a:stretch/>
          </p:blipFill>
          <p:spPr>
            <a:xfrm>
              <a:off x="320760" y="6621120"/>
              <a:ext cx="267480" cy="254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43" name="文本框 2"/>
          <p:cNvSpPr/>
          <p:nvPr/>
        </p:nvSpPr>
        <p:spPr>
          <a:xfrm>
            <a:off x="3501360" y="3246480"/>
            <a:ext cx="6094080" cy="10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sz="6000" b="1" strike="noStrike" spc="-1">
                <a:solidFill>
                  <a:srgbClr val="000000"/>
                </a:solidFill>
                <a:latin typeface="微软雅黑"/>
                <a:ea typeface="微软雅黑"/>
              </a:rPr>
              <a:t>感谢观看</a:t>
            </a:r>
            <a:r>
              <a:rPr lang="zh-CN" sz="6000" b="1" strike="noStrike" spc="-1">
                <a:solidFill>
                  <a:srgbClr val="000000"/>
                </a:solidFill>
                <a:latin typeface="Times New Roman"/>
                <a:ea typeface="微软雅黑"/>
              </a:rPr>
              <a:t>！</a:t>
            </a:r>
            <a:endParaRPr lang="en-US" sz="6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3104</Words>
  <Application>Microsoft Macintosh PowerPoint</Application>
  <PresentationFormat>宽屏</PresentationFormat>
  <Paragraphs>234</Paragraphs>
  <Slides>23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等线</vt:lpstr>
      <vt:lpstr>等线 Light</vt:lpstr>
      <vt:lpstr>Microsoft YaHei</vt:lpstr>
      <vt:lpstr>Microsoft YaHei</vt:lpstr>
      <vt:lpstr>Arial</vt:lpstr>
      <vt:lpstr>Symbol</vt:lpstr>
      <vt:lpstr>Times New Roman</vt:lpstr>
      <vt:lpstr>Wingdings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shilan zhang</dc:creator>
  <dc:description/>
  <cp:lastModifiedBy>Dawson Rose</cp:lastModifiedBy>
  <cp:revision>439</cp:revision>
  <dcterms:created xsi:type="dcterms:W3CDTF">2025-01-04T11:49:00Z</dcterms:created>
  <dcterms:modified xsi:type="dcterms:W3CDTF">2026-03-23T06:13:31Z</dcterms:modified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0E622E0BD6EC491EA9781A51B5975799_12</vt:lpwstr>
  </property>
  <property fmtid="{D5CDD505-2E9C-101B-9397-08002B2CF9AE}" pid="3" name="KSOProductBuildVer">
    <vt:lpwstr>2052-12.1.0.24034</vt:lpwstr>
  </property>
  <property fmtid="{D5CDD505-2E9C-101B-9397-08002B2CF9AE}" pid="4" name="Notes">
    <vt:i4>15</vt:i4>
  </property>
  <property fmtid="{D5CDD505-2E9C-101B-9397-08002B2CF9AE}" pid="5" name="PresentationFormat">
    <vt:lpwstr>宽屏</vt:lpwstr>
  </property>
  <property fmtid="{D5CDD505-2E9C-101B-9397-08002B2CF9AE}" pid="6" name="Slides">
    <vt:i4>24</vt:i4>
  </property>
</Properties>
</file>